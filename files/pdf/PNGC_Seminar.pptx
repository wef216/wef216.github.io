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3" r:id="rId2"/>
    <p:sldId id="334" r:id="rId3"/>
    <p:sldId id="329" r:id="rId4"/>
    <p:sldId id="353" r:id="rId5"/>
    <p:sldId id="332" r:id="rId6"/>
    <p:sldId id="335" r:id="rId7"/>
    <p:sldId id="354" r:id="rId8"/>
    <p:sldId id="330" r:id="rId9"/>
    <p:sldId id="331" r:id="rId10"/>
    <p:sldId id="347" r:id="rId11"/>
    <p:sldId id="346" r:id="rId12"/>
    <p:sldId id="286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87" r:id="rId24"/>
    <p:sldId id="288" r:id="rId25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53DC"/>
    <a:srgbClr val="8C1A11"/>
    <a:srgbClr val="4A5A75"/>
    <a:srgbClr val="A84E47"/>
    <a:srgbClr val="FFFFFF"/>
    <a:srgbClr val="FBEAE9"/>
    <a:srgbClr val="F5F6F5"/>
    <a:srgbClr val="CCFF99"/>
    <a:srgbClr val="FF66FF"/>
    <a:srgbClr val="EEB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8" autoAdjust="0"/>
    <p:restoredTop sz="94673" autoAdjust="0"/>
  </p:normalViewPr>
  <p:slideViewPr>
    <p:cSldViewPr snapToGrid="0">
      <p:cViewPr varScale="1">
        <p:scale>
          <a:sx n="145" d="100"/>
          <a:sy n="145" d="100"/>
        </p:scale>
        <p:origin x="48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001409-CE55-4EDF-8573-8854B1E5FA79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</dgm:pt>
    <dgm:pt modelId="{885DA673-6FC3-4DA9-BEC7-010E4A72F746}">
      <dgm:prSet phldrT="[Text]"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Health Equity</a:t>
          </a:r>
        </a:p>
      </dgm:t>
    </dgm:pt>
    <dgm:pt modelId="{0A2DC2E2-EBB0-43D2-90E3-306507AFBDBB}" type="parTrans" cxnId="{C3EFAF63-16A6-4EDB-9A3D-E271C17F2A96}">
      <dgm:prSet/>
      <dgm:spPr/>
      <dgm:t>
        <a:bodyPr/>
        <a:lstStyle/>
        <a:p>
          <a:endParaRPr lang="en-US"/>
        </a:p>
      </dgm:t>
    </dgm:pt>
    <dgm:pt modelId="{3DEF72A3-A9BD-4398-9698-975F3E6541EF}" type="sibTrans" cxnId="{C3EFAF63-16A6-4EDB-9A3D-E271C17F2A96}">
      <dgm:prSet/>
      <dgm:spPr/>
      <dgm:t>
        <a:bodyPr/>
        <a:lstStyle/>
        <a:p>
          <a:endParaRPr lang="en-US"/>
        </a:p>
      </dgm:t>
    </dgm:pt>
    <dgm:pt modelId="{4DD646A9-B334-4EF1-B9EE-11D64C151909}">
      <dgm:prSet phldrT="[Text]"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 Sufficient Fundings</a:t>
          </a:r>
        </a:p>
      </dgm:t>
    </dgm:pt>
    <dgm:pt modelId="{43384706-8B01-4E25-ADBF-9DAE53C235C6}" type="parTrans" cxnId="{10B8727D-D38A-4C6B-BFAD-1E81717BEEF5}">
      <dgm:prSet/>
      <dgm:spPr/>
      <dgm:t>
        <a:bodyPr/>
        <a:lstStyle/>
        <a:p>
          <a:endParaRPr lang="en-US"/>
        </a:p>
      </dgm:t>
    </dgm:pt>
    <dgm:pt modelId="{264DA87A-DF6C-45F0-961C-A70DBD936B74}" type="sibTrans" cxnId="{10B8727D-D38A-4C6B-BFAD-1E81717BEEF5}">
      <dgm:prSet/>
      <dgm:spPr/>
      <dgm:t>
        <a:bodyPr/>
        <a:lstStyle/>
        <a:p>
          <a:endParaRPr lang="en-US"/>
        </a:p>
      </dgm:t>
    </dgm:pt>
    <dgm:pt modelId="{0E2C66E9-29FD-45B3-9D36-574DE34CBCAF}">
      <dgm:prSet phldrT="[Text]"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Diversity in Science</a:t>
          </a:r>
        </a:p>
      </dgm:t>
    </dgm:pt>
    <dgm:pt modelId="{4A752427-67EE-45D7-85C2-941EADF379E3}" type="sibTrans" cxnId="{253D47B4-1DB9-4AB6-91DC-066DF55C2472}">
      <dgm:prSet/>
      <dgm:spPr/>
      <dgm:t>
        <a:bodyPr/>
        <a:lstStyle/>
        <a:p>
          <a:endParaRPr lang="en-US"/>
        </a:p>
      </dgm:t>
    </dgm:pt>
    <dgm:pt modelId="{8BB26330-3125-4501-B417-B4D55130A475}" type="parTrans" cxnId="{253D47B4-1DB9-4AB6-91DC-066DF55C2472}">
      <dgm:prSet/>
      <dgm:spPr/>
      <dgm:t>
        <a:bodyPr/>
        <a:lstStyle/>
        <a:p>
          <a:endParaRPr lang="en-US"/>
        </a:p>
      </dgm:t>
    </dgm:pt>
    <dgm:pt modelId="{D76CCE49-2EEF-4820-AC6B-DE7B0A361F86}" type="pres">
      <dgm:prSet presAssocID="{E9001409-CE55-4EDF-8573-8854B1E5FA79}" presName="composite" presStyleCnt="0">
        <dgm:presLayoutVars>
          <dgm:chMax val="5"/>
          <dgm:dir/>
          <dgm:resizeHandles val="exact"/>
        </dgm:presLayoutVars>
      </dgm:prSet>
      <dgm:spPr/>
    </dgm:pt>
    <dgm:pt modelId="{967DE2A5-EB21-479F-8346-8325DFBA5811}" type="pres">
      <dgm:prSet presAssocID="{885DA673-6FC3-4DA9-BEC7-010E4A72F746}" presName="circle1" presStyleLbl="lnNode1" presStyleIdx="0" presStyleCnt="3"/>
      <dgm:spPr>
        <a:solidFill>
          <a:schemeClr val="accent1">
            <a:lumMod val="50000"/>
          </a:schemeClr>
        </a:solidFill>
      </dgm:spPr>
    </dgm:pt>
    <dgm:pt modelId="{6A6FE5D5-2BDA-4D26-A67A-519EEFF62F00}" type="pres">
      <dgm:prSet presAssocID="{885DA673-6FC3-4DA9-BEC7-010E4A72F746}" presName="text1" presStyleLbl="revTx" presStyleIdx="0" presStyleCnt="3" custScaleX="129417">
        <dgm:presLayoutVars>
          <dgm:bulletEnabled val="1"/>
        </dgm:presLayoutVars>
      </dgm:prSet>
      <dgm:spPr/>
    </dgm:pt>
    <dgm:pt modelId="{C2434FAE-F8BF-4138-B89D-FC8DAFBE257D}" type="pres">
      <dgm:prSet presAssocID="{885DA673-6FC3-4DA9-BEC7-010E4A72F746}" presName="line1" presStyleLbl="callout" presStyleIdx="0" presStyleCnt="6"/>
      <dgm:spPr/>
    </dgm:pt>
    <dgm:pt modelId="{5F288361-FCBC-4374-BAA3-B4F456006C51}" type="pres">
      <dgm:prSet presAssocID="{885DA673-6FC3-4DA9-BEC7-010E4A72F746}" presName="d1" presStyleLbl="callout" presStyleIdx="1" presStyleCnt="6"/>
      <dgm:spPr>
        <a:ln w="19050">
          <a:solidFill>
            <a:schemeClr val="accent1">
              <a:lumMod val="50000"/>
            </a:schemeClr>
          </a:solidFill>
        </a:ln>
      </dgm:spPr>
    </dgm:pt>
    <dgm:pt modelId="{E2D71AAB-FA85-4F4C-B617-0A162F44297F}" type="pres">
      <dgm:prSet presAssocID="{0E2C66E9-29FD-45B3-9D36-574DE34CBCAF}" presName="circle2" presStyleLbl="lnNode1" presStyleIdx="1" presStyleCnt="3"/>
      <dgm:spPr>
        <a:solidFill>
          <a:schemeClr val="accent1">
            <a:lumMod val="60000"/>
            <a:lumOff val="40000"/>
          </a:schemeClr>
        </a:solidFill>
      </dgm:spPr>
    </dgm:pt>
    <dgm:pt modelId="{D85E314A-F1B3-4602-BF6D-6304B69BAA36}" type="pres">
      <dgm:prSet presAssocID="{0E2C66E9-29FD-45B3-9D36-574DE34CBCAF}" presName="text2" presStyleLbl="revTx" presStyleIdx="1" presStyleCnt="3" custScaleX="144752">
        <dgm:presLayoutVars>
          <dgm:bulletEnabled val="1"/>
        </dgm:presLayoutVars>
      </dgm:prSet>
      <dgm:spPr/>
    </dgm:pt>
    <dgm:pt modelId="{457FB24C-60B5-4AC6-81B0-D49C60A0D8E9}" type="pres">
      <dgm:prSet presAssocID="{0E2C66E9-29FD-45B3-9D36-574DE34CBCAF}" presName="line2" presStyleLbl="callout" presStyleIdx="2" presStyleCnt="6"/>
      <dgm:spPr/>
    </dgm:pt>
    <dgm:pt modelId="{A27FDA04-9C86-4126-90A0-C59B3D5DB0F7}" type="pres">
      <dgm:prSet presAssocID="{0E2C66E9-29FD-45B3-9D36-574DE34CBCAF}" presName="d2" presStyleLbl="callout" presStyleIdx="3" presStyleCnt="6"/>
      <dgm:spPr>
        <a:ln w="19050">
          <a:solidFill>
            <a:schemeClr val="accent1">
              <a:lumMod val="50000"/>
            </a:schemeClr>
          </a:solidFill>
        </a:ln>
      </dgm:spPr>
    </dgm:pt>
    <dgm:pt modelId="{EEF59628-70AF-43C8-A621-00987A00CACB}" type="pres">
      <dgm:prSet presAssocID="{4DD646A9-B334-4EF1-B9EE-11D64C151909}" presName="circle3" presStyleLbl="lnNode1" presStyleIdx="2" presStyleCnt="3"/>
      <dgm:spPr>
        <a:solidFill>
          <a:schemeClr val="accent5">
            <a:lumMod val="40000"/>
            <a:lumOff val="60000"/>
          </a:schemeClr>
        </a:solidFill>
      </dgm:spPr>
    </dgm:pt>
    <dgm:pt modelId="{8766A1E2-FEF0-4853-A40C-7A93CAE11FD5}" type="pres">
      <dgm:prSet presAssocID="{4DD646A9-B334-4EF1-B9EE-11D64C151909}" presName="text3" presStyleLbl="revTx" presStyleIdx="2" presStyleCnt="3" custScaleX="160820">
        <dgm:presLayoutVars>
          <dgm:bulletEnabled val="1"/>
        </dgm:presLayoutVars>
      </dgm:prSet>
      <dgm:spPr/>
    </dgm:pt>
    <dgm:pt modelId="{07AF4314-D5FA-4D05-8952-6DFA850C5720}" type="pres">
      <dgm:prSet presAssocID="{4DD646A9-B334-4EF1-B9EE-11D64C151909}" presName="line3" presStyleLbl="callout" presStyleIdx="4" presStyleCnt="6"/>
      <dgm:spPr/>
    </dgm:pt>
    <dgm:pt modelId="{357F7D96-4BC7-4563-954F-30E29B20DB58}" type="pres">
      <dgm:prSet presAssocID="{4DD646A9-B334-4EF1-B9EE-11D64C151909}" presName="d3" presStyleLbl="callout" presStyleIdx="5" presStyleCnt="6"/>
      <dgm:spPr>
        <a:ln w="19050">
          <a:solidFill>
            <a:schemeClr val="accent1">
              <a:lumMod val="50000"/>
            </a:schemeClr>
          </a:solidFill>
        </a:ln>
      </dgm:spPr>
    </dgm:pt>
  </dgm:ptLst>
  <dgm:cxnLst>
    <dgm:cxn modelId="{6AEF5012-C58D-45B2-B6B7-C738BC16F08D}" type="presOf" srcId="{4DD646A9-B334-4EF1-B9EE-11D64C151909}" destId="{8766A1E2-FEF0-4853-A40C-7A93CAE11FD5}" srcOrd="0" destOrd="0" presId="urn:microsoft.com/office/officeart/2005/8/layout/target1"/>
    <dgm:cxn modelId="{46D8F61E-C942-4DEF-869C-E3FF466A72D1}" type="presOf" srcId="{885DA673-6FC3-4DA9-BEC7-010E4A72F746}" destId="{6A6FE5D5-2BDA-4D26-A67A-519EEFF62F00}" srcOrd="0" destOrd="0" presId="urn:microsoft.com/office/officeart/2005/8/layout/target1"/>
    <dgm:cxn modelId="{C3EFAF63-16A6-4EDB-9A3D-E271C17F2A96}" srcId="{E9001409-CE55-4EDF-8573-8854B1E5FA79}" destId="{885DA673-6FC3-4DA9-BEC7-010E4A72F746}" srcOrd="0" destOrd="0" parTransId="{0A2DC2E2-EBB0-43D2-90E3-306507AFBDBB}" sibTransId="{3DEF72A3-A9BD-4398-9698-975F3E6541EF}"/>
    <dgm:cxn modelId="{10B8727D-D38A-4C6B-BFAD-1E81717BEEF5}" srcId="{E9001409-CE55-4EDF-8573-8854B1E5FA79}" destId="{4DD646A9-B334-4EF1-B9EE-11D64C151909}" srcOrd="2" destOrd="0" parTransId="{43384706-8B01-4E25-ADBF-9DAE53C235C6}" sibTransId="{264DA87A-DF6C-45F0-961C-A70DBD936B74}"/>
    <dgm:cxn modelId="{253D47B4-1DB9-4AB6-91DC-066DF55C2472}" srcId="{E9001409-CE55-4EDF-8573-8854B1E5FA79}" destId="{0E2C66E9-29FD-45B3-9D36-574DE34CBCAF}" srcOrd="1" destOrd="0" parTransId="{8BB26330-3125-4501-B417-B4D55130A475}" sibTransId="{4A752427-67EE-45D7-85C2-941EADF379E3}"/>
    <dgm:cxn modelId="{584DE7B8-FC32-42B5-9966-25284253C988}" type="presOf" srcId="{E9001409-CE55-4EDF-8573-8854B1E5FA79}" destId="{D76CCE49-2EEF-4820-AC6B-DE7B0A361F86}" srcOrd="0" destOrd="0" presId="urn:microsoft.com/office/officeart/2005/8/layout/target1"/>
    <dgm:cxn modelId="{8347BAE8-F1C3-4AFC-9152-1F59C0A80E01}" type="presOf" srcId="{0E2C66E9-29FD-45B3-9D36-574DE34CBCAF}" destId="{D85E314A-F1B3-4602-BF6D-6304B69BAA36}" srcOrd="0" destOrd="0" presId="urn:microsoft.com/office/officeart/2005/8/layout/target1"/>
    <dgm:cxn modelId="{8DDDEACF-5752-4D56-98C3-67862C5044E2}" type="presParOf" srcId="{D76CCE49-2EEF-4820-AC6B-DE7B0A361F86}" destId="{967DE2A5-EB21-479F-8346-8325DFBA5811}" srcOrd="0" destOrd="0" presId="urn:microsoft.com/office/officeart/2005/8/layout/target1"/>
    <dgm:cxn modelId="{66C4D2F3-A03E-4C97-A098-4DB1067C2BEB}" type="presParOf" srcId="{D76CCE49-2EEF-4820-AC6B-DE7B0A361F86}" destId="{6A6FE5D5-2BDA-4D26-A67A-519EEFF62F00}" srcOrd="1" destOrd="0" presId="urn:microsoft.com/office/officeart/2005/8/layout/target1"/>
    <dgm:cxn modelId="{8040D161-F26D-42BE-9CB5-07DBC2C673EF}" type="presParOf" srcId="{D76CCE49-2EEF-4820-AC6B-DE7B0A361F86}" destId="{C2434FAE-F8BF-4138-B89D-FC8DAFBE257D}" srcOrd="2" destOrd="0" presId="urn:microsoft.com/office/officeart/2005/8/layout/target1"/>
    <dgm:cxn modelId="{58FFE122-4F14-4DEC-A59E-360AFFEA29A7}" type="presParOf" srcId="{D76CCE49-2EEF-4820-AC6B-DE7B0A361F86}" destId="{5F288361-FCBC-4374-BAA3-B4F456006C51}" srcOrd="3" destOrd="0" presId="urn:microsoft.com/office/officeart/2005/8/layout/target1"/>
    <dgm:cxn modelId="{80E0DB0F-94A8-47E3-91C3-FC0E3420FA53}" type="presParOf" srcId="{D76CCE49-2EEF-4820-AC6B-DE7B0A361F86}" destId="{E2D71AAB-FA85-4F4C-B617-0A162F44297F}" srcOrd="4" destOrd="0" presId="urn:microsoft.com/office/officeart/2005/8/layout/target1"/>
    <dgm:cxn modelId="{5637AFB0-C8B1-4835-874D-AB1671262369}" type="presParOf" srcId="{D76CCE49-2EEF-4820-AC6B-DE7B0A361F86}" destId="{D85E314A-F1B3-4602-BF6D-6304B69BAA36}" srcOrd="5" destOrd="0" presId="urn:microsoft.com/office/officeart/2005/8/layout/target1"/>
    <dgm:cxn modelId="{76230AB2-4067-4930-8093-1A33A0F162A6}" type="presParOf" srcId="{D76CCE49-2EEF-4820-AC6B-DE7B0A361F86}" destId="{457FB24C-60B5-4AC6-81B0-D49C60A0D8E9}" srcOrd="6" destOrd="0" presId="urn:microsoft.com/office/officeart/2005/8/layout/target1"/>
    <dgm:cxn modelId="{3649940C-6C2B-46AB-AFBD-0AFC7C8608D0}" type="presParOf" srcId="{D76CCE49-2EEF-4820-AC6B-DE7B0A361F86}" destId="{A27FDA04-9C86-4126-90A0-C59B3D5DB0F7}" srcOrd="7" destOrd="0" presId="urn:microsoft.com/office/officeart/2005/8/layout/target1"/>
    <dgm:cxn modelId="{13EFADFC-E861-48B2-BA09-50EF109624E3}" type="presParOf" srcId="{D76CCE49-2EEF-4820-AC6B-DE7B0A361F86}" destId="{EEF59628-70AF-43C8-A621-00987A00CACB}" srcOrd="8" destOrd="0" presId="urn:microsoft.com/office/officeart/2005/8/layout/target1"/>
    <dgm:cxn modelId="{F0FB77EF-1760-4FB3-80B7-42A79C086A41}" type="presParOf" srcId="{D76CCE49-2EEF-4820-AC6B-DE7B0A361F86}" destId="{8766A1E2-FEF0-4853-A40C-7A93CAE11FD5}" srcOrd="9" destOrd="0" presId="urn:microsoft.com/office/officeart/2005/8/layout/target1"/>
    <dgm:cxn modelId="{889F5153-3332-4A39-BBB1-7145A77C83F3}" type="presParOf" srcId="{D76CCE49-2EEF-4820-AC6B-DE7B0A361F86}" destId="{07AF4314-D5FA-4D05-8952-6DFA850C5720}" srcOrd="10" destOrd="0" presId="urn:microsoft.com/office/officeart/2005/8/layout/target1"/>
    <dgm:cxn modelId="{C790E5B3-2171-45AA-9DC0-FAC5BF4EFDB5}" type="presParOf" srcId="{D76CCE49-2EEF-4820-AC6B-DE7B0A361F86}" destId="{357F7D96-4BC7-4563-954F-30E29B20DB58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299189-AD77-43AF-92DB-B007F5EACD93}" type="doc">
      <dgm:prSet loTypeId="urn:microsoft.com/office/officeart/2005/8/layout/gear1" loCatId="cycle" qsTypeId="urn:microsoft.com/office/officeart/2005/8/quickstyle/simple3" qsCatId="simple" csTypeId="urn:microsoft.com/office/officeart/2005/8/colors/accent1_2" csCatId="accent1" phldr="1"/>
      <dgm:spPr/>
    </dgm:pt>
    <dgm:pt modelId="{152FA523-0A60-4D35-81B8-824D6F2EBFE0}">
      <dgm:prSet phldrT="[Text]"/>
      <dgm:spPr/>
      <dgm:t>
        <a:bodyPr/>
        <a:lstStyle/>
        <a:p>
          <a:r>
            <a:rPr lang="en-US" b="1" dirty="0"/>
            <a:t>Diversity in Scientific Community</a:t>
          </a:r>
        </a:p>
      </dgm:t>
    </dgm:pt>
    <dgm:pt modelId="{671C18B3-1E6D-4337-B5B6-7C2957E87CCC}" type="parTrans" cxnId="{854E99A0-9F79-4770-803B-175ABADB8FEA}">
      <dgm:prSet/>
      <dgm:spPr/>
      <dgm:t>
        <a:bodyPr/>
        <a:lstStyle/>
        <a:p>
          <a:endParaRPr lang="en-US"/>
        </a:p>
      </dgm:t>
    </dgm:pt>
    <dgm:pt modelId="{3DF4239A-16DD-4057-AD16-15B44860FA8A}" type="sibTrans" cxnId="{854E99A0-9F79-4770-803B-175ABADB8FEA}">
      <dgm:prSet/>
      <dgm:spPr/>
      <dgm:t>
        <a:bodyPr/>
        <a:lstStyle/>
        <a:p>
          <a:endParaRPr lang="en-US"/>
        </a:p>
      </dgm:t>
    </dgm:pt>
    <dgm:pt modelId="{8E33C132-971B-47EE-86FA-11C53103E176}">
      <dgm:prSet phldrT="[Text]"/>
      <dgm:spPr/>
      <dgm:t>
        <a:bodyPr/>
        <a:lstStyle/>
        <a:p>
          <a:r>
            <a:rPr lang="en-US" b="1" dirty="0"/>
            <a:t>Diversity in Subjects</a:t>
          </a:r>
        </a:p>
      </dgm:t>
    </dgm:pt>
    <dgm:pt modelId="{F9D85FBF-B5DC-4E21-8F1C-0EC4D1E93B58}" type="parTrans" cxnId="{D1DDDAE6-E8A8-4D4E-A294-B9B5BC836CA5}">
      <dgm:prSet/>
      <dgm:spPr/>
      <dgm:t>
        <a:bodyPr/>
        <a:lstStyle/>
        <a:p>
          <a:endParaRPr lang="en-US"/>
        </a:p>
      </dgm:t>
    </dgm:pt>
    <dgm:pt modelId="{90C01066-E540-4823-987F-E9B5C50A27A5}" type="sibTrans" cxnId="{D1DDDAE6-E8A8-4D4E-A294-B9B5BC836CA5}">
      <dgm:prSet/>
      <dgm:spPr/>
      <dgm:t>
        <a:bodyPr/>
        <a:lstStyle/>
        <a:p>
          <a:endParaRPr lang="en-US"/>
        </a:p>
      </dgm:t>
    </dgm:pt>
    <dgm:pt modelId="{59C2A12E-B27A-4613-A8D1-875B47EA3B5D}">
      <dgm:prSet phldrT="[Text]"/>
      <dgm:spPr/>
      <dgm:t>
        <a:bodyPr/>
        <a:lstStyle/>
        <a:p>
          <a:r>
            <a:rPr lang="en-US" b="1" dirty="0"/>
            <a:t>Biomedical Discovery</a:t>
          </a:r>
        </a:p>
      </dgm:t>
    </dgm:pt>
    <dgm:pt modelId="{40D88238-34D2-4560-AE9B-12AAFA6029E9}" type="parTrans" cxnId="{BC577EA8-37B2-44A4-AFF6-157F1D2833BC}">
      <dgm:prSet/>
      <dgm:spPr/>
      <dgm:t>
        <a:bodyPr/>
        <a:lstStyle/>
        <a:p>
          <a:endParaRPr lang="en-US"/>
        </a:p>
      </dgm:t>
    </dgm:pt>
    <dgm:pt modelId="{EBEF4181-BAEE-48CB-A3CB-7D05A55B5840}" type="sibTrans" cxnId="{BC577EA8-37B2-44A4-AFF6-157F1D2833BC}">
      <dgm:prSet/>
      <dgm:spPr/>
      <dgm:t>
        <a:bodyPr/>
        <a:lstStyle/>
        <a:p>
          <a:endParaRPr lang="en-US"/>
        </a:p>
      </dgm:t>
    </dgm:pt>
    <dgm:pt modelId="{1E6DC7D3-9DCE-4E84-AAF5-6D02CB6B69D6}" type="pres">
      <dgm:prSet presAssocID="{AE299189-AD77-43AF-92DB-B007F5EACD93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10AE707F-9AE5-4247-ACE7-7F116A323598}" type="pres">
      <dgm:prSet presAssocID="{152FA523-0A60-4D35-81B8-824D6F2EBFE0}" presName="gear1" presStyleLbl="node1" presStyleIdx="0" presStyleCnt="3">
        <dgm:presLayoutVars>
          <dgm:chMax val="1"/>
          <dgm:bulletEnabled val="1"/>
        </dgm:presLayoutVars>
      </dgm:prSet>
      <dgm:spPr/>
    </dgm:pt>
    <dgm:pt modelId="{D03E96BD-F5AB-4462-8D98-ECB30C0A7A0C}" type="pres">
      <dgm:prSet presAssocID="{152FA523-0A60-4D35-81B8-824D6F2EBFE0}" presName="gear1srcNode" presStyleLbl="node1" presStyleIdx="0" presStyleCnt="3"/>
      <dgm:spPr/>
    </dgm:pt>
    <dgm:pt modelId="{2A9D5141-EB21-46D5-B1F7-C0D7BFF2D38A}" type="pres">
      <dgm:prSet presAssocID="{152FA523-0A60-4D35-81B8-824D6F2EBFE0}" presName="gear1dstNode" presStyleLbl="node1" presStyleIdx="0" presStyleCnt="3"/>
      <dgm:spPr/>
    </dgm:pt>
    <dgm:pt modelId="{B409EE2D-4B73-4511-AE6D-477910C64E0F}" type="pres">
      <dgm:prSet presAssocID="{8E33C132-971B-47EE-86FA-11C53103E176}" presName="gear2" presStyleLbl="node1" presStyleIdx="1" presStyleCnt="3">
        <dgm:presLayoutVars>
          <dgm:chMax val="1"/>
          <dgm:bulletEnabled val="1"/>
        </dgm:presLayoutVars>
      </dgm:prSet>
      <dgm:spPr/>
    </dgm:pt>
    <dgm:pt modelId="{755EF678-6105-4FC5-9DFF-E08824FD2941}" type="pres">
      <dgm:prSet presAssocID="{8E33C132-971B-47EE-86FA-11C53103E176}" presName="gear2srcNode" presStyleLbl="node1" presStyleIdx="1" presStyleCnt="3"/>
      <dgm:spPr/>
    </dgm:pt>
    <dgm:pt modelId="{77CAE318-CF7E-436F-8F71-8EB4F56563CD}" type="pres">
      <dgm:prSet presAssocID="{8E33C132-971B-47EE-86FA-11C53103E176}" presName="gear2dstNode" presStyleLbl="node1" presStyleIdx="1" presStyleCnt="3"/>
      <dgm:spPr/>
    </dgm:pt>
    <dgm:pt modelId="{5CA2F4A3-CB6F-41E9-B2AD-B02348145704}" type="pres">
      <dgm:prSet presAssocID="{59C2A12E-B27A-4613-A8D1-875B47EA3B5D}" presName="gear3" presStyleLbl="node1" presStyleIdx="2" presStyleCnt="3"/>
      <dgm:spPr/>
    </dgm:pt>
    <dgm:pt modelId="{6AA328D4-5713-46D3-B511-F1DF7D33EFB6}" type="pres">
      <dgm:prSet presAssocID="{59C2A12E-B27A-4613-A8D1-875B47EA3B5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5F07A9D1-0D2A-4AB0-BDDE-B1F509D4D5BF}" type="pres">
      <dgm:prSet presAssocID="{59C2A12E-B27A-4613-A8D1-875B47EA3B5D}" presName="gear3srcNode" presStyleLbl="node1" presStyleIdx="2" presStyleCnt="3"/>
      <dgm:spPr/>
    </dgm:pt>
    <dgm:pt modelId="{911E993A-5FF8-4E83-B417-C0964289AE0E}" type="pres">
      <dgm:prSet presAssocID="{59C2A12E-B27A-4613-A8D1-875B47EA3B5D}" presName="gear3dstNode" presStyleLbl="node1" presStyleIdx="2" presStyleCnt="3"/>
      <dgm:spPr/>
    </dgm:pt>
    <dgm:pt modelId="{F76880A4-D167-4B06-B211-B80B7FE002F1}" type="pres">
      <dgm:prSet presAssocID="{3DF4239A-16DD-4057-AD16-15B44860FA8A}" presName="connector1" presStyleLbl="sibTrans2D1" presStyleIdx="0" presStyleCnt="3"/>
      <dgm:spPr/>
    </dgm:pt>
    <dgm:pt modelId="{10C05021-F5D1-4B6F-8596-FCD284FD7BC8}" type="pres">
      <dgm:prSet presAssocID="{90C01066-E540-4823-987F-E9B5C50A27A5}" presName="connector2" presStyleLbl="sibTrans2D1" presStyleIdx="1" presStyleCnt="3"/>
      <dgm:spPr/>
    </dgm:pt>
    <dgm:pt modelId="{069F91E0-1AD2-4642-849B-5CB09307B457}" type="pres">
      <dgm:prSet presAssocID="{EBEF4181-BAEE-48CB-A3CB-7D05A55B5840}" presName="connector3" presStyleLbl="sibTrans2D1" presStyleIdx="2" presStyleCnt="3"/>
      <dgm:spPr/>
    </dgm:pt>
  </dgm:ptLst>
  <dgm:cxnLst>
    <dgm:cxn modelId="{9D9A8C0B-3D99-40F8-9370-68FF3F397A7B}" type="presOf" srcId="{AE299189-AD77-43AF-92DB-B007F5EACD93}" destId="{1E6DC7D3-9DCE-4E84-AAF5-6D02CB6B69D6}" srcOrd="0" destOrd="0" presId="urn:microsoft.com/office/officeart/2005/8/layout/gear1"/>
    <dgm:cxn modelId="{B37F3F14-72BF-4006-A7A2-9255D25DDF4B}" type="presOf" srcId="{3DF4239A-16DD-4057-AD16-15B44860FA8A}" destId="{F76880A4-D167-4B06-B211-B80B7FE002F1}" srcOrd="0" destOrd="0" presId="urn:microsoft.com/office/officeart/2005/8/layout/gear1"/>
    <dgm:cxn modelId="{5FA13419-61D9-4EA4-A86D-371C20588D04}" type="presOf" srcId="{59C2A12E-B27A-4613-A8D1-875B47EA3B5D}" destId="{5CA2F4A3-CB6F-41E9-B2AD-B02348145704}" srcOrd="0" destOrd="0" presId="urn:microsoft.com/office/officeart/2005/8/layout/gear1"/>
    <dgm:cxn modelId="{B4069941-627F-4160-B54F-56A2802E7D71}" type="presOf" srcId="{152FA523-0A60-4D35-81B8-824D6F2EBFE0}" destId="{2A9D5141-EB21-46D5-B1F7-C0D7BFF2D38A}" srcOrd="2" destOrd="0" presId="urn:microsoft.com/office/officeart/2005/8/layout/gear1"/>
    <dgm:cxn modelId="{BDE8384F-E759-4123-BEC5-1E74EA4E9634}" type="presOf" srcId="{59C2A12E-B27A-4613-A8D1-875B47EA3B5D}" destId="{5F07A9D1-0D2A-4AB0-BDDE-B1F509D4D5BF}" srcOrd="2" destOrd="0" presId="urn:microsoft.com/office/officeart/2005/8/layout/gear1"/>
    <dgm:cxn modelId="{ADB2DF67-0A5A-459B-A964-6F2B395C94E8}" type="presOf" srcId="{152FA523-0A60-4D35-81B8-824D6F2EBFE0}" destId="{10AE707F-9AE5-4247-ACE7-7F116A323598}" srcOrd="0" destOrd="0" presId="urn:microsoft.com/office/officeart/2005/8/layout/gear1"/>
    <dgm:cxn modelId="{3C16596A-6F77-4D7F-B5BE-B3CDEEAF26BF}" type="presOf" srcId="{8E33C132-971B-47EE-86FA-11C53103E176}" destId="{77CAE318-CF7E-436F-8F71-8EB4F56563CD}" srcOrd="2" destOrd="0" presId="urn:microsoft.com/office/officeart/2005/8/layout/gear1"/>
    <dgm:cxn modelId="{9EC3896A-EED1-4971-8B61-0A506829BCD6}" type="presOf" srcId="{59C2A12E-B27A-4613-A8D1-875B47EA3B5D}" destId="{6AA328D4-5713-46D3-B511-F1DF7D33EFB6}" srcOrd="1" destOrd="0" presId="urn:microsoft.com/office/officeart/2005/8/layout/gear1"/>
    <dgm:cxn modelId="{E3C52883-145C-4F91-8CC3-B0B0E89CFA6F}" type="presOf" srcId="{90C01066-E540-4823-987F-E9B5C50A27A5}" destId="{10C05021-F5D1-4B6F-8596-FCD284FD7BC8}" srcOrd="0" destOrd="0" presId="urn:microsoft.com/office/officeart/2005/8/layout/gear1"/>
    <dgm:cxn modelId="{6E75DA97-B82B-48FD-B394-CD2BB82468FF}" type="presOf" srcId="{8E33C132-971B-47EE-86FA-11C53103E176}" destId="{B409EE2D-4B73-4511-AE6D-477910C64E0F}" srcOrd="0" destOrd="0" presId="urn:microsoft.com/office/officeart/2005/8/layout/gear1"/>
    <dgm:cxn modelId="{BFC51B9E-51DA-4EEC-BC32-DA7DCDCF2F77}" type="presOf" srcId="{EBEF4181-BAEE-48CB-A3CB-7D05A55B5840}" destId="{069F91E0-1AD2-4642-849B-5CB09307B457}" srcOrd="0" destOrd="0" presId="urn:microsoft.com/office/officeart/2005/8/layout/gear1"/>
    <dgm:cxn modelId="{854E99A0-9F79-4770-803B-175ABADB8FEA}" srcId="{AE299189-AD77-43AF-92DB-B007F5EACD93}" destId="{152FA523-0A60-4D35-81B8-824D6F2EBFE0}" srcOrd="0" destOrd="0" parTransId="{671C18B3-1E6D-4337-B5B6-7C2957E87CCC}" sibTransId="{3DF4239A-16DD-4057-AD16-15B44860FA8A}"/>
    <dgm:cxn modelId="{BC577EA8-37B2-44A4-AFF6-157F1D2833BC}" srcId="{AE299189-AD77-43AF-92DB-B007F5EACD93}" destId="{59C2A12E-B27A-4613-A8D1-875B47EA3B5D}" srcOrd="2" destOrd="0" parTransId="{40D88238-34D2-4560-AE9B-12AAFA6029E9}" sibTransId="{EBEF4181-BAEE-48CB-A3CB-7D05A55B5840}"/>
    <dgm:cxn modelId="{1B3ECBA9-6E81-4886-A6EF-1EFBAC082897}" type="presOf" srcId="{59C2A12E-B27A-4613-A8D1-875B47EA3B5D}" destId="{911E993A-5FF8-4E83-B417-C0964289AE0E}" srcOrd="3" destOrd="0" presId="urn:microsoft.com/office/officeart/2005/8/layout/gear1"/>
    <dgm:cxn modelId="{D1DDDAE6-E8A8-4D4E-A294-B9B5BC836CA5}" srcId="{AE299189-AD77-43AF-92DB-B007F5EACD93}" destId="{8E33C132-971B-47EE-86FA-11C53103E176}" srcOrd="1" destOrd="0" parTransId="{F9D85FBF-B5DC-4E21-8F1C-0EC4D1E93B58}" sibTransId="{90C01066-E540-4823-987F-E9B5C50A27A5}"/>
    <dgm:cxn modelId="{2ECAF8E8-9310-424C-9843-A73CFFFB176B}" type="presOf" srcId="{152FA523-0A60-4D35-81B8-824D6F2EBFE0}" destId="{D03E96BD-F5AB-4462-8D98-ECB30C0A7A0C}" srcOrd="1" destOrd="0" presId="urn:microsoft.com/office/officeart/2005/8/layout/gear1"/>
    <dgm:cxn modelId="{DDC60EF9-1186-45C4-BBDB-F72663A643CC}" type="presOf" srcId="{8E33C132-971B-47EE-86FA-11C53103E176}" destId="{755EF678-6105-4FC5-9DFF-E08824FD2941}" srcOrd="1" destOrd="0" presId="urn:microsoft.com/office/officeart/2005/8/layout/gear1"/>
    <dgm:cxn modelId="{BC80A77F-2E93-4E95-837D-B798188182E2}" type="presParOf" srcId="{1E6DC7D3-9DCE-4E84-AAF5-6D02CB6B69D6}" destId="{10AE707F-9AE5-4247-ACE7-7F116A323598}" srcOrd="0" destOrd="0" presId="urn:microsoft.com/office/officeart/2005/8/layout/gear1"/>
    <dgm:cxn modelId="{0325FE88-5FB4-42A3-ADDF-DEACDDA8F386}" type="presParOf" srcId="{1E6DC7D3-9DCE-4E84-AAF5-6D02CB6B69D6}" destId="{D03E96BD-F5AB-4462-8D98-ECB30C0A7A0C}" srcOrd="1" destOrd="0" presId="urn:microsoft.com/office/officeart/2005/8/layout/gear1"/>
    <dgm:cxn modelId="{BA9FD23B-FDAB-4B04-97D0-0FD0C7BDE824}" type="presParOf" srcId="{1E6DC7D3-9DCE-4E84-AAF5-6D02CB6B69D6}" destId="{2A9D5141-EB21-46D5-B1F7-C0D7BFF2D38A}" srcOrd="2" destOrd="0" presId="urn:microsoft.com/office/officeart/2005/8/layout/gear1"/>
    <dgm:cxn modelId="{7DB9D401-0AE8-42F6-866C-E52406FAFA77}" type="presParOf" srcId="{1E6DC7D3-9DCE-4E84-AAF5-6D02CB6B69D6}" destId="{B409EE2D-4B73-4511-AE6D-477910C64E0F}" srcOrd="3" destOrd="0" presId="urn:microsoft.com/office/officeart/2005/8/layout/gear1"/>
    <dgm:cxn modelId="{60359C4F-309C-48DE-81BE-B2CC7E1748D7}" type="presParOf" srcId="{1E6DC7D3-9DCE-4E84-AAF5-6D02CB6B69D6}" destId="{755EF678-6105-4FC5-9DFF-E08824FD2941}" srcOrd="4" destOrd="0" presId="urn:microsoft.com/office/officeart/2005/8/layout/gear1"/>
    <dgm:cxn modelId="{332475B1-82D4-448F-AE1D-7FC2147CD3C6}" type="presParOf" srcId="{1E6DC7D3-9DCE-4E84-AAF5-6D02CB6B69D6}" destId="{77CAE318-CF7E-436F-8F71-8EB4F56563CD}" srcOrd="5" destOrd="0" presId="urn:microsoft.com/office/officeart/2005/8/layout/gear1"/>
    <dgm:cxn modelId="{ABD926A6-966F-4EEB-97DF-C2F2721D8FB7}" type="presParOf" srcId="{1E6DC7D3-9DCE-4E84-AAF5-6D02CB6B69D6}" destId="{5CA2F4A3-CB6F-41E9-B2AD-B02348145704}" srcOrd="6" destOrd="0" presId="urn:microsoft.com/office/officeart/2005/8/layout/gear1"/>
    <dgm:cxn modelId="{3B960797-2EE3-4A5E-8A92-E95B78218556}" type="presParOf" srcId="{1E6DC7D3-9DCE-4E84-AAF5-6D02CB6B69D6}" destId="{6AA328D4-5713-46D3-B511-F1DF7D33EFB6}" srcOrd="7" destOrd="0" presId="urn:microsoft.com/office/officeart/2005/8/layout/gear1"/>
    <dgm:cxn modelId="{74CFD4E7-8F79-477A-88BB-B2BE0864A9E6}" type="presParOf" srcId="{1E6DC7D3-9DCE-4E84-AAF5-6D02CB6B69D6}" destId="{5F07A9D1-0D2A-4AB0-BDDE-B1F509D4D5BF}" srcOrd="8" destOrd="0" presId="urn:microsoft.com/office/officeart/2005/8/layout/gear1"/>
    <dgm:cxn modelId="{E02F278D-9568-47B9-95B3-D3B7B06A9853}" type="presParOf" srcId="{1E6DC7D3-9DCE-4E84-AAF5-6D02CB6B69D6}" destId="{911E993A-5FF8-4E83-B417-C0964289AE0E}" srcOrd="9" destOrd="0" presId="urn:microsoft.com/office/officeart/2005/8/layout/gear1"/>
    <dgm:cxn modelId="{BF1E0943-B8B1-4AD5-BADC-B4AEE671AC3A}" type="presParOf" srcId="{1E6DC7D3-9DCE-4E84-AAF5-6D02CB6B69D6}" destId="{F76880A4-D167-4B06-B211-B80B7FE002F1}" srcOrd="10" destOrd="0" presId="urn:microsoft.com/office/officeart/2005/8/layout/gear1"/>
    <dgm:cxn modelId="{97FEDCF1-657D-44A5-88A4-B576CED29015}" type="presParOf" srcId="{1E6DC7D3-9DCE-4E84-AAF5-6D02CB6B69D6}" destId="{10C05021-F5D1-4B6F-8596-FCD284FD7BC8}" srcOrd="11" destOrd="0" presId="urn:microsoft.com/office/officeart/2005/8/layout/gear1"/>
    <dgm:cxn modelId="{B7467A2D-9D2E-4392-959C-5E4D8E7D299D}" type="presParOf" srcId="{1E6DC7D3-9DCE-4E84-AAF5-6D02CB6B69D6}" destId="{069F91E0-1AD2-4642-849B-5CB09307B45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F59628-70AF-43C8-A621-00987A00CACB}">
      <dsp:nvSpPr>
        <dsp:cNvPr id="0" name=""/>
        <dsp:cNvSpPr/>
      </dsp:nvSpPr>
      <dsp:spPr>
        <a:xfrm>
          <a:off x="-240276" y="1275664"/>
          <a:ext cx="3160493" cy="3160493"/>
        </a:xfrm>
        <a:prstGeom prst="ellipse">
          <a:avLst/>
        </a:prstGeom>
        <a:solidFill>
          <a:schemeClr val="accent5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71AAB-FA85-4F4C-B617-0A162F44297F}">
      <dsp:nvSpPr>
        <dsp:cNvPr id="0" name=""/>
        <dsp:cNvSpPr/>
      </dsp:nvSpPr>
      <dsp:spPr>
        <a:xfrm>
          <a:off x="391822" y="1907763"/>
          <a:ext cx="1896296" cy="1896296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DE2A5-EB21-479F-8346-8325DFBA5811}">
      <dsp:nvSpPr>
        <dsp:cNvPr id="0" name=""/>
        <dsp:cNvSpPr/>
      </dsp:nvSpPr>
      <dsp:spPr>
        <a:xfrm>
          <a:off x="1023920" y="2539862"/>
          <a:ext cx="632098" cy="632098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FE5D5-2BDA-4D26-A67A-519EEFF62F00}">
      <dsp:nvSpPr>
        <dsp:cNvPr id="0" name=""/>
        <dsp:cNvSpPr/>
      </dsp:nvSpPr>
      <dsp:spPr>
        <a:xfrm>
          <a:off x="3214535" y="222166"/>
          <a:ext cx="2045107" cy="92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Health Equity</a:t>
          </a:r>
        </a:p>
      </dsp:txBody>
      <dsp:txXfrm>
        <a:off x="3214535" y="222166"/>
        <a:ext cx="2045107" cy="921810"/>
      </dsp:txXfrm>
    </dsp:sp>
    <dsp:sp modelId="{C2434FAE-F8BF-4138-B89D-FC8DAFBE257D}">
      <dsp:nvSpPr>
        <dsp:cNvPr id="0" name=""/>
        <dsp:cNvSpPr/>
      </dsp:nvSpPr>
      <dsp:spPr>
        <a:xfrm>
          <a:off x="3051904" y="683072"/>
          <a:ext cx="3950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88361-FCBC-4374-BAA3-B4F456006C51}">
      <dsp:nvSpPr>
        <dsp:cNvPr id="0" name=""/>
        <dsp:cNvSpPr/>
      </dsp:nvSpPr>
      <dsp:spPr>
        <a:xfrm rot="5400000">
          <a:off x="1108990" y="914578"/>
          <a:ext cx="2172312" cy="171035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E314A-F1B3-4602-BF6D-6304B69BAA36}">
      <dsp:nvSpPr>
        <dsp:cNvPr id="0" name=""/>
        <dsp:cNvSpPr/>
      </dsp:nvSpPr>
      <dsp:spPr>
        <a:xfrm>
          <a:off x="3093369" y="1143977"/>
          <a:ext cx="2287438" cy="92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Diversity in Science</a:t>
          </a:r>
        </a:p>
      </dsp:txBody>
      <dsp:txXfrm>
        <a:off x="3093369" y="1143977"/>
        <a:ext cx="2287438" cy="921810"/>
      </dsp:txXfrm>
    </dsp:sp>
    <dsp:sp modelId="{457FB24C-60B5-4AC6-81B0-D49C60A0D8E9}">
      <dsp:nvSpPr>
        <dsp:cNvPr id="0" name=""/>
        <dsp:cNvSpPr/>
      </dsp:nvSpPr>
      <dsp:spPr>
        <a:xfrm>
          <a:off x="3051904" y="1604882"/>
          <a:ext cx="3950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7FDA04-9C86-4126-90A0-C59B3D5DB0F7}">
      <dsp:nvSpPr>
        <dsp:cNvPr id="0" name=""/>
        <dsp:cNvSpPr/>
      </dsp:nvSpPr>
      <dsp:spPr>
        <a:xfrm rot="5400000">
          <a:off x="1575268" y="1822008"/>
          <a:ext cx="1692760" cy="125734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66A1E2-FEF0-4853-A40C-7A93CAE11FD5}">
      <dsp:nvSpPr>
        <dsp:cNvPr id="0" name=""/>
        <dsp:cNvSpPr/>
      </dsp:nvSpPr>
      <dsp:spPr>
        <a:xfrm>
          <a:off x="2966412" y="2065788"/>
          <a:ext cx="2541352" cy="9218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</a:rPr>
            <a:t> Sufficient Fundings</a:t>
          </a:r>
        </a:p>
      </dsp:txBody>
      <dsp:txXfrm>
        <a:off x="2966412" y="2065788"/>
        <a:ext cx="2541352" cy="921810"/>
      </dsp:txXfrm>
    </dsp:sp>
    <dsp:sp modelId="{07AF4314-D5FA-4D05-8952-6DFA850C5720}">
      <dsp:nvSpPr>
        <dsp:cNvPr id="0" name=""/>
        <dsp:cNvSpPr/>
      </dsp:nvSpPr>
      <dsp:spPr>
        <a:xfrm>
          <a:off x="3051904" y="2526693"/>
          <a:ext cx="39506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F7D96-4BC7-4563-954F-30E29B20DB58}">
      <dsp:nvSpPr>
        <dsp:cNvPr id="0" name=""/>
        <dsp:cNvSpPr/>
      </dsp:nvSpPr>
      <dsp:spPr>
        <a:xfrm rot="5400000">
          <a:off x="2042126" y="2728701"/>
          <a:ext cx="1209415" cy="80434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AE707F-9AE5-4247-ACE7-7F116A323598}">
      <dsp:nvSpPr>
        <dsp:cNvPr id="0" name=""/>
        <dsp:cNvSpPr/>
      </dsp:nvSpPr>
      <dsp:spPr>
        <a:xfrm>
          <a:off x="3793066" y="2438400"/>
          <a:ext cx="2980266" cy="2980266"/>
        </a:xfrm>
        <a:prstGeom prst="gear9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Diversity in Scientific Community</a:t>
          </a:r>
        </a:p>
      </dsp:txBody>
      <dsp:txXfrm>
        <a:off x="4392232" y="3136513"/>
        <a:ext cx="1781934" cy="1531918"/>
      </dsp:txXfrm>
    </dsp:sp>
    <dsp:sp modelId="{B409EE2D-4B73-4511-AE6D-477910C64E0F}">
      <dsp:nvSpPr>
        <dsp:cNvPr id="0" name=""/>
        <dsp:cNvSpPr/>
      </dsp:nvSpPr>
      <dsp:spPr>
        <a:xfrm>
          <a:off x="2059093" y="1733973"/>
          <a:ext cx="2167466" cy="2167466"/>
        </a:xfrm>
        <a:prstGeom prst="gear6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Diversity in Subjects</a:t>
          </a:r>
        </a:p>
      </dsp:txBody>
      <dsp:txXfrm>
        <a:off x="2604759" y="2282937"/>
        <a:ext cx="1076134" cy="1069538"/>
      </dsp:txXfrm>
    </dsp:sp>
    <dsp:sp modelId="{5CA2F4A3-CB6F-41E9-B2AD-B02348145704}">
      <dsp:nvSpPr>
        <dsp:cNvPr id="0" name=""/>
        <dsp:cNvSpPr/>
      </dsp:nvSpPr>
      <dsp:spPr>
        <a:xfrm rot="20700000">
          <a:off x="3273095" y="238642"/>
          <a:ext cx="2123675" cy="2123675"/>
        </a:xfrm>
        <a:prstGeom prst="gear6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Biomedical Discovery</a:t>
          </a:r>
        </a:p>
      </dsp:txBody>
      <dsp:txXfrm rot="-20700000">
        <a:off x="3738879" y="704426"/>
        <a:ext cx="1192106" cy="1192106"/>
      </dsp:txXfrm>
    </dsp:sp>
    <dsp:sp modelId="{F76880A4-D167-4B06-B211-B80B7FE002F1}">
      <dsp:nvSpPr>
        <dsp:cNvPr id="0" name=""/>
        <dsp:cNvSpPr/>
      </dsp:nvSpPr>
      <dsp:spPr>
        <a:xfrm>
          <a:off x="3577577" y="1980864"/>
          <a:ext cx="3814741" cy="3814741"/>
        </a:xfrm>
        <a:prstGeom prst="circularArrow">
          <a:avLst>
            <a:gd name="adj1" fmla="val 4688"/>
            <a:gd name="adj2" fmla="val 299029"/>
            <a:gd name="adj3" fmla="val 2539295"/>
            <a:gd name="adj4" fmla="val 15812321"/>
            <a:gd name="adj5" fmla="val 546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0C05021-F5D1-4B6F-8596-FCD284FD7BC8}">
      <dsp:nvSpPr>
        <dsp:cNvPr id="0" name=""/>
        <dsp:cNvSpPr/>
      </dsp:nvSpPr>
      <dsp:spPr>
        <a:xfrm>
          <a:off x="1675238" y="1249140"/>
          <a:ext cx="2771648" cy="277164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9F91E0-1AD2-4642-849B-5CB09307B457}">
      <dsp:nvSpPr>
        <dsp:cNvPr id="0" name=""/>
        <dsp:cNvSpPr/>
      </dsp:nvSpPr>
      <dsp:spPr>
        <a:xfrm>
          <a:off x="2781867" y="-231776"/>
          <a:ext cx="2988394" cy="298839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D190D3-3E7F-C524-36EE-7FCC6F39B2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0B62C-6D5C-13E5-9896-9245B1A29A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C70A0-E1AB-4A9F-92EC-C0669DC48FDC}" type="datetimeFigureOut">
              <a:rPr lang="en-US" smtClean="0"/>
              <a:t>9/20/22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AA802-EA9B-8FCF-2E4A-B78AAE837F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0EB6A2-96E1-7499-B544-4FA6C7DCA5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02B9E-C6C6-49DD-8EEC-80C0883C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695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A2EB5-5858-43BB-859D-4AEB60381E28}" type="datetimeFigureOut">
              <a:rPr lang="en-US" smtClean="0"/>
              <a:t>9/20/22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6FF7E-D5E6-4930-A72A-AC756C2E3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56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4491-08B1-4355-B827-6DC738EA2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EC401-6FE4-A412-D752-3D315C43F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FA7D-BD69-A979-FD07-8A490E86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ADBBB-C3E8-43D0-9A72-4D69BDFB6E71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84892-76BC-F153-DD99-8707DE44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8FBE4-9EDB-FDF1-B04E-25E2DE74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75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7575-EEB6-F476-D2B8-25C51B80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16C1C-8666-0915-39D0-042596B7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C791A-42AD-4329-B381-4D7EC284D6D7}" type="datetime1">
              <a:rPr lang="en-US" smtClean="0"/>
              <a:t>9/20/22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76462-5F18-911F-E84E-618ADE48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7ABBC-7F13-6D12-2A55-DBDACF44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9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3F90-BB7F-E87B-621B-A05CCB12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1A85-33B9-2E1D-0D3F-6F8E94AB6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3FBAB-8C50-35E3-ADEF-2B819588C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8347-1C5C-4245-AC33-B42F512B8727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CFA0-C114-157A-FE70-46987F7F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495BA-A856-BF5C-83CB-1A3BC519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6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D404-9F5B-CDE1-0C3B-23CD237F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05EF2-2B72-A4C6-1A76-8CFB12258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D8F4-DE39-9031-BAA4-3B2B1DDE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27B34-82EE-4509-A407-848809396939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37E2D-D389-AAC0-DEDE-442CBECE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2AB02-8A4F-4932-694B-BBD29EB9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5D4A-8605-1749-9ABA-6FEFD21F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2249-E726-210A-7CB5-5C7670704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86E20-D948-0A58-BBFB-8DBF7AD7D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54860-B331-C615-D447-10F3185C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FBD1-CDAD-445B-A1B1-89F8B8BA26BB}" type="datetime1">
              <a:rPr lang="en-US" smtClean="0"/>
              <a:t>9/20/22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FA73F-284C-5F1E-3B32-AAC16EDF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AB340-0A1D-229D-F58D-DBE4EECF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7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24C1-638B-30DD-1427-F1C90D439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A8C66-0BCD-0F40-BE54-EECB6DBBC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E9424-767C-1BFA-6718-F024320CC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6BC74-1CB3-B932-7B2B-40A10400E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07364-0FE3-B058-E040-ED30211D3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B44B25-C58B-33A8-0876-006C5A19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967C-2943-4A3E-9115-7470B944099E}" type="datetime1">
              <a:rPr lang="en-US" smtClean="0"/>
              <a:t>9/20/22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65329-2851-145A-854A-04A9954D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036283-A4BB-9642-3055-53A68B5A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8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FDF8-81BF-594A-ACDF-FC13A39C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6B740-FF26-9180-A057-BA87258C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35299-16C7-4028-B298-775F1F42A747}" type="datetime1">
              <a:rPr lang="en-US" smtClean="0"/>
              <a:t>9/20/22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B21F9C-C560-ACCC-C881-8BA34221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B8D4C-33CE-18ED-2A32-CE1E88ED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5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F02C0-369E-F4F6-FBFC-03C72DCE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CC76A-E4AB-45CB-9B3E-B26CDEBA5295}" type="datetime1">
              <a:rPr lang="en-US" smtClean="0"/>
              <a:t>9/20/22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A1BF4-940A-5D96-135C-A7509BD6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DBC76-CFC1-4FE8-B4D4-6FC4C283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8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4947-19BA-EEC9-C8C4-58A72C36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D880D-9526-2DA3-31A0-2E9E9CE0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A3310-136E-FCAD-62EA-C6ACBA8E5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3B702-F376-0D53-492A-F37F4F98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50BCB-69CD-4AF0-B997-04F4D147EDD4}" type="datetime1">
              <a:rPr lang="en-US" smtClean="0"/>
              <a:t>9/20/22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1347A-F9C5-78B4-F591-90A689ED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B087F-932D-E639-B97F-15C26C6D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8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2AC95-2BFC-B4BF-1E03-F26A67CC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FF615-5477-280E-3D4A-AAC4EAA8F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C9F9E-DA02-8082-26FC-AC7B57064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9C64C-C5AB-D03A-CB3C-AD62A7799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CEA3-B873-4EBB-BF79-3EBBE674D024}" type="datetime1">
              <a:rPr lang="en-US" smtClean="0"/>
              <a:t>9/20/22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4A32F-790D-D255-691B-CA17BA27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4F0CD-DD75-C78E-A9C8-51862FD20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3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F1B8-BD73-67F2-B667-94613BFE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ADB26-42AF-FE88-42F5-4B6CA6D9B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D4338-2D10-D0A0-5AEB-C544495C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64C0-7F58-40CC-B03B-C47BB7532343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12C15-9781-F467-EB6C-531C4592B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88F52-4C5A-4DD7-C8B0-D42B5EA7A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67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BB0C4-87AA-65A4-FC7D-4F7B90BE86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C4E7A-D234-9276-A7B1-6EFCBB5AB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BF60C-2C6B-EBF3-F515-39569350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E9366-AE0D-48EE-8E52-1375F4673C17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C645-1ED1-8FFC-D768-53144530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5AD26-BC65-D8D7-BB89-075DD436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7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1970E-8973-57B4-2D12-4F1EA13C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3598D-4A46-A652-C530-DEC970C5B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2EA7E-032A-BB9D-501E-5EBDA9C38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68A0B-3767-45DD-BE41-676B8F190BCC}" type="datetime1">
              <a:rPr lang="en-US" smtClean="0"/>
              <a:t>9/20/22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0F18E-3C0C-5BE2-CD96-C12AA41B7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6830E-CD1B-87B3-3EF5-7A424D5A1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E3030-6DB7-4BA3-B035-65CED0C11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50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jp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2.sv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jp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4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2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6FE83-EFC8-EBF5-6317-EA579CDF0264}"/>
              </a:ext>
            </a:extLst>
          </p:cNvPr>
          <p:cNvSpPr txBox="1"/>
          <p:nvPr/>
        </p:nvSpPr>
        <p:spPr>
          <a:xfrm>
            <a:off x="1520790" y="1246270"/>
            <a:ext cx="88071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NIH Grant Expansion, Ancestral Diversity, and Scientific Discovery in Genomics Research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Wei Fu, </a:t>
            </a:r>
            <a:r>
              <a:rPr kumimoji="0" 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</a:t>
            </a:r>
            <a:r>
              <a:rPr lang="de-DE" sz="2000" dirty="0">
                <a:solidFill>
                  <a:prstClr val="black"/>
                </a:solidFill>
                <a:latin typeface="Calibri" panose="020F0502020204030204"/>
              </a:rPr>
              <a:t>D</a:t>
            </a: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Postdoctoral Researcher, Wang Lab 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Department </a:t>
            </a:r>
            <a:r>
              <a:rPr lang="de-DE" dirty="0" err="1">
                <a:solidFill>
                  <a:prstClr val="black"/>
                </a:solidFill>
                <a:latin typeface="Calibri" panose="020F0502020204030204"/>
              </a:rPr>
              <a:t>of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de-DE" dirty="0" err="1">
                <a:solidFill>
                  <a:prstClr val="black"/>
                </a:solidFill>
                <a:latin typeface="Calibri" panose="020F0502020204030204"/>
              </a:rPr>
              <a:t>Pathology</a:t>
            </a:r>
            <a:endParaRPr lang="de-DE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Perelman School </a:t>
            </a:r>
            <a:r>
              <a:rPr lang="de-DE" dirty="0" err="1">
                <a:solidFill>
                  <a:prstClr val="black"/>
                </a:solidFill>
                <a:latin typeface="Calibri" panose="020F0502020204030204"/>
              </a:rPr>
              <a:t>of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 Medicine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University </a:t>
            </a:r>
            <a:r>
              <a:rPr lang="de-DE" dirty="0" err="1">
                <a:solidFill>
                  <a:prstClr val="black"/>
                </a:solidFill>
                <a:latin typeface="Calibri" panose="020F0502020204030204"/>
              </a:rPr>
              <a:t>of</a:t>
            </a:r>
            <a:r>
              <a:rPr lang="de-DE" dirty="0">
                <a:solidFill>
                  <a:prstClr val="black"/>
                </a:solidFill>
                <a:latin typeface="Calibri" panose="020F0502020204030204"/>
              </a:rPr>
              <a:t> Pennsylvania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PNGC Seminar Series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September 21, 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8C418-6238-6108-0353-4DA5D13F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821" y="6011004"/>
            <a:ext cx="1951071" cy="5495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68A3E2-02A0-4745-367F-7BAED27C0B5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1240" y="5957330"/>
            <a:ext cx="1818061" cy="65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8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527E9FF-2760-BA58-C781-515CA90FA0B9}"/>
              </a:ext>
            </a:extLst>
          </p:cNvPr>
          <p:cNvGrpSpPr/>
          <p:nvPr/>
        </p:nvGrpSpPr>
        <p:grpSpPr>
          <a:xfrm>
            <a:off x="711335" y="1712109"/>
            <a:ext cx="2936097" cy="4715921"/>
            <a:chOff x="761244" y="1247349"/>
            <a:chExt cx="2936097" cy="47159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03D360-2534-1395-293C-A848238BA2CE}"/>
                </a:ext>
              </a:extLst>
            </p:cNvPr>
            <p:cNvSpPr txBox="1"/>
            <p:nvPr/>
          </p:nvSpPr>
          <p:spPr>
            <a:xfrm>
              <a:off x="780405" y="3778056"/>
              <a:ext cx="291693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×2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Asthma Inequality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The treatment failure risk of long-lasting-β2-agonist is 2 time higher among African Americans, compared to white patients (Burchard, 2014).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6B1B3A-9140-8373-2375-2DC32E7072BE}"/>
                </a:ext>
              </a:extLst>
            </p:cNvPr>
            <p:cNvSpPr txBox="1"/>
            <p:nvPr/>
          </p:nvSpPr>
          <p:spPr>
            <a:xfrm>
              <a:off x="761244" y="1247349"/>
              <a:ext cx="2916936" cy="1969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5% to 42%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Precision Medicine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New molecular entities approved by FDA patients that are precision medicine in 2005 and 2018 (Urban</a:t>
              </a:r>
              <a:b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and Naylor, 2018).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19D3F1-D979-4B72-BD31-1B00C6957BA1}"/>
              </a:ext>
            </a:extLst>
          </p:cNvPr>
          <p:cNvGrpSpPr/>
          <p:nvPr/>
        </p:nvGrpSpPr>
        <p:grpSpPr>
          <a:xfrm>
            <a:off x="4674490" y="1699923"/>
            <a:ext cx="2916937" cy="4337375"/>
            <a:chOff x="4724399" y="1235163"/>
            <a:chExt cx="2916937" cy="43373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5EB181-4F0A-225D-100D-EFACE9FD433E}"/>
                </a:ext>
              </a:extLst>
            </p:cNvPr>
            <p:cNvSpPr txBox="1"/>
            <p:nvPr/>
          </p:nvSpPr>
          <p:spPr>
            <a:xfrm>
              <a:off x="4724400" y="3818212"/>
              <a:ext cx="291693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4.5% to 12%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Minority in GWAS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 of minority subjects in GWAS in 2007 and 2017 (Mills and Rahal, 2019).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77CB69E-C84B-1F4B-689C-E979A9A2B6EC}"/>
                </a:ext>
              </a:extLst>
            </p:cNvPr>
            <p:cNvSpPr txBox="1"/>
            <p:nvPr/>
          </p:nvSpPr>
          <p:spPr>
            <a:xfrm>
              <a:off x="4724399" y="1235163"/>
              <a:ext cx="2912089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3.1% &amp; 2.9%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Minority in Clinical Trials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 of African Americans and Hispanics in 230 clinical trials leading to FDA oncology drug approvals between 2008 to 2018 (Loree et al., 2019).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05DA1DA-02F2-40E4-4559-582E45863508}"/>
              </a:ext>
            </a:extLst>
          </p:cNvPr>
          <p:cNvGrpSpPr/>
          <p:nvPr/>
        </p:nvGrpSpPr>
        <p:grpSpPr>
          <a:xfrm>
            <a:off x="8522785" y="1713570"/>
            <a:ext cx="2930584" cy="4714538"/>
            <a:chOff x="8572694" y="1248810"/>
            <a:chExt cx="2930584" cy="4714538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1D991B-060A-40E9-1444-50A4D7ED254F}"/>
                </a:ext>
              </a:extLst>
            </p:cNvPr>
            <p:cNvSpPr txBox="1"/>
            <p:nvPr/>
          </p:nvSpPr>
          <p:spPr>
            <a:xfrm>
              <a:off x="8586342" y="3778134"/>
              <a:ext cx="2916936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×1.7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Funding Gap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European White PIs were 1.7 times more likely to be funded than African American PIs between 2011 and 2015 (Hoppe et al., 2019).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CB83B4-0565-A230-592F-4189FC424AA0}"/>
                </a:ext>
              </a:extLst>
            </p:cNvPr>
            <p:cNvSpPr txBox="1"/>
            <p:nvPr/>
          </p:nvSpPr>
          <p:spPr>
            <a:xfrm>
              <a:off x="8572694" y="1248810"/>
              <a:ext cx="2916936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80%+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Insufficient Funding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Faculty respondents list insufficient funding as a barrier to engaging in diversity and inclusion activities (Jimenez et al., 2019).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6D58C5-5708-E264-E784-4B5EEAAC9A6A}"/>
              </a:ext>
            </a:extLst>
          </p:cNvPr>
          <p:cNvCxnSpPr>
            <a:cxnSpLocks/>
          </p:cNvCxnSpPr>
          <p:nvPr/>
        </p:nvCxnSpPr>
        <p:spPr>
          <a:xfrm>
            <a:off x="4075939" y="1627632"/>
            <a:ext cx="0" cy="4754880"/>
          </a:xfrm>
          <a:prstGeom prst="line">
            <a:avLst/>
          </a:prstGeom>
          <a:ln w="15875"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B52640-77AF-B992-B7FA-B39F83D4AFF5}"/>
              </a:ext>
            </a:extLst>
          </p:cNvPr>
          <p:cNvCxnSpPr/>
          <p:nvPr/>
        </p:nvCxnSpPr>
        <p:spPr>
          <a:xfrm>
            <a:off x="8095971" y="1627632"/>
            <a:ext cx="0" cy="4754880"/>
          </a:xfrm>
          <a:prstGeom prst="line">
            <a:avLst/>
          </a:prstGeom>
          <a:ln w="15875"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C732922-91B2-AC5E-968D-8F01E733A7C8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Facts – Disparity and Underrepresentation</a:t>
            </a:r>
          </a:p>
        </p:txBody>
      </p:sp>
    </p:spTree>
    <p:extLst>
      <p:ext uri="{BB962C8B-B14F-4D97-AF65-F5344CB8AC3E}">
        <p14:creationId xmlns:p14="http://schemas.microsoft.com/office/powerpoint/2010/main" val="99860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457200" y="457201"/>
            <a:ext cx="11442015" cy="5827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Translating Science to Health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796147-F476-6AF4-5AD5-E88255FD0E69}"/>
              </a:ext>
            </a:extLst>
          </p:cNvPr>
          <p:cNvSpPr txBox="1"/>
          <p:nvPr/>
        </p:nvSpPr>
        <p:spPr>
          <a:xfrm>
            <a:off x="1443319" y="2209017"/>
            <a:ext cx="373545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Underrepresentation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of minority in Biomedical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Inadequate funding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Shortage of minority scientists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barriers between the minority community and scientific team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DA34E-6870-3DFE-2699-2BBF86BDFF86}"/>
              </a:ext>
            </a:extLst>
          </p:cNvPr>
          <p:cNvSpPr txBox="1"/>
          <p:nvPr/>
        </p:nvSpPr>
        <p:spPr>
          <a:xfrm>
            <a:off x="7388238" y="2209017"/>
            <a:ext cx="33604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Disparity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Treatments and Health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Treatment less effective among a particular population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access to precision medicine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6" name="Arrow: Right 1">
            <a:extLst>
              <a:ext uri="{FF2B5EF4-FFF2-40B4-BE49-F238E27FC236}">
                <a16:creationId xmlns:a16="http://schemas.microsoft.com/office/drawing/2014/main" id="{855A7170-4117-5D8E-F687-0B9D578FF747}"/>
              </a:ext>
            </a:extLst>
          </p:cNvPr>
          <p:cNvSpPr/>
          <p:nvPr/>
        </p:nvSpPr>
        <p:spPr>
          <a:xfrm>
            <a:off x="5178771" y="2405158"/>
            <a:ext cx="1772239" cy="168219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47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A4EC2E4-990A-9770-D6CA-F941CE1FF3B0}"/>
              </a:ext>
            </a:extLst>
          </p:cNvPr>
          <p:cNvGrpSpPr/>
          <p:nvPr/>
        </p:nvGrpSpPr>
        <p:grpSpPr>
          <a:xfrm>
            <a:off x="1542171" y="1400950"/>
            <a:ext cx="10127965" cy="1103049"/>
            <a:chOff x="1956318" y="1518413"/>
            <a:chExt cx="10127965" cy="110304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659172-0DFF-E92B-3311-BBB9BEB4065A}"/>
                </a:ext>
              </a:extLst>
            </p:cNvPr>
            <p:cNvSpPr txBox="1"/>
            <p:nvPr/>
          </p:nvSpPr>
          <p:spPr>
            <a:xfrm>
              <a:off x="1956318" y="2221352"/>
              <a:ext cx="101279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How significant is the scientific value of funding science on underrepresented populations?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87E76D-735E-5787-1590-41FECA90706A}"/>
                </a:ext>
              </a:extLst>
            </p:cNvPr>
            <p:cNvSpPr txBox="1"/>
            <p:nvPr/>
          </p:nvSpPr>
          <p:spPr>
            <a:xfrm>
              <a:off x="1956318" y="1518413"/>
              <a:ext cx="98310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Whether improved funding opportunity facilitates minority health research?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 Questions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287B6A-4999-2763-17CB-15B4EBB8C067}"/>
              </a:ext>
            </a:extLst>
          </p:cNvPr>
          <p:cNvGrpSpPr/>
          <p:nvPr/>
        </p:nvGrpSpPr>
        <p:grpSpPr>
          <a:xfrm>
            <a:off x="1121284" y="3264408"/>
            <a:ext cx="5133845" cy="2853148"/>
            <a:chOff x="6239336" y="3090570"/>
            <a:chExt cx="5133845" cy="285314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E951A78-14A5-454B-F4FB-6CC3A89C4D27}"/>
                </a:ext>
              </a:extLst>
            </p:cNvPr>
            <p:cNvGrpSpPr/>
            <p:nvPr/>
          </p:nvGrpSpPr>
          <p:grpSpPr>
            <a:xfrm>
              <a:off x="6239336" y="3090570"/>
              <a:ext cx="5133845" cy="2853148"/>
              <a:chOff x="6469980" y="1190666"/>
              <a:chExt cx="5133845" cy="285314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29C5046-07A3-3F9D-2E96-4B07C28CB8C9}"/>
                  </a:ext>
                </a:extLst>
              </p:cNvPr>
              <p:cNvGrpSpPr/>
              <p:nvPr/>
            </p:nvGrpSpPr>
            <p:grpSpPr>
              <a:xfrm>
                <a:off x="6469980" y="1643514"/>
                <a:ext cx="5133845" cy="2400300"/>
                <a:chOff x="1288575" y="1697656"/>
                <a:chExt cx="5133845" cy="2400300"/>
              </a:xfrm>
              <a:solidFill>
                <a:schemeClr val="tx1">
                  <a:lumMod val="85000"/>
                </a:schemeClr>
              </a:solidFill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A944379-B36E-3C60-F1A7-C2C7F4ADEDC6}"/>
                    </a:ext>
                  </a:extLst>
                </p:cNvPr>
                <p:cNvGrpSpPr/>
                <p:nvPr/>
              </p:nvGrpSpPr>
              <p:grpSpPr>
                <a:xfrm>
                  <a:off x="1288575" y="2269156"/>
                  <a:ext cx="4636970" cy="1828800"/>
                  <a:chOff x="1542449" y="3724977"/>
                  <a:chExt cx="4636970" cy="1828800"/>
                </a:xfrm>
                <a:grpFill/>
              </p:grpSpPr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F85905B9-A9CF-A300-75CA-96799A42145C}"/>
                      </a:ext>
                    </a:extLst>
                  </p:cNvPr>
                  <p:cNvSpPr/>
                  <p:nvPr/>
                </p:nvSpPr>
                <p:spPr>
                  <a:xfrm>
                    <a:off x="1542449" y="3724977"/>
                    <a:ext cx="4636970" cy="1828800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 w="28575">
                    <a:solidFill>
                      <a:schemeClr val="tx1">
                        <a:lumMod val="75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92A2DDD-99D9-4434-466B-CA98159101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42449" y="3985710"/>
                    <a:ext cx="4562375" cy="141577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$10 billion </a:t>
                    </a: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directly to NIH, available for two years, from February 2009 through September 2010.</a:t>
                    </a:r>
                  </a:p>
                </p:txBody>
              </p:sp>
            </p:grp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19B9423B-F807-0C71-67EA-5ADF0A4A40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2078" t="-4127" r="52080" b="4127"/>
                <a:stretch/>
              </p:blipFill>
              <p:spPr>
                <a:xfrm>
                  <a:off x="5279480" y="1697656"/>
                  <a:ext cx="1142940" cy="1143000"/>
                </a:xfrm>
                <a:prstGeom prst="ellipse">
                  <a:avLst/>
                </a:prstGeom>
                <a:grpFill/>
                <a:ln w="19050" cap="rnd">
                  <a:solidFill>
                    <a:srgbClr val="C00000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8DD5472-B020-A19A-3145-C9BCC0AAA6C2}"/>
                  </a:ext>
                </a:extLst>
              </p:cNvPr>
              <p:cNvGrpSpPr/>
              <p:nvPr/>
            </p:nvGrpSpPr>
            <p:grpSpPr>
              <a:xfrm>
                <a:off x="6829406" y="1190666"/>
                <a:ext cx="4202947" cy="830997"/>
                <a:chOff x="3251316" y="1190666"/>
                <a:chExt cx="2586977" cy="830997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2AA2DCD-ADF9-24B9-3616-0236C14B7832}"/>
                    </a:ext>
                  </a:extLst>
                </p:cNvPr>
                <p:cNvSpPr txBox="1"/>
                <p:nvPr/>
              </p:nvSpPr>
              <p:spPr>
                <a:xfrm>
                  <a:off x="3251316" y="1190666"/>
                  <a:ext cx="190676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American Recovery and Reinvestment Act of 2009 (ARRA)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5" name="Connector: Elbow 54">
                  <a:extLst>
                    <a:ext uri="{FF2B5EF4-FFF2-40B4-BE49-F238E27FC236}">
                      <a16:creationId xmlns:a16="http://schemas.microsoft.com/office/drawing/2014/main" id="{414BC8C4-20C7-710B-E934-60392E7A9253}"/>
                    </a:ext>
                  </a:extLst>
                </p:cNvPr>
                <p:cNvCxnSpPr>
                  <a:cxnSpLocks/>
                  <a:stCxn id="57" idx="0"/>
                </p:cNvCxnSpPr>
                <p:nvPr/>
              </p:nvCxnSpPr>
              <p:spPr>
                <a:xfrm rot="16200000" flipV="1">
                  <a:off x="5226067" y="1031288"/>
                  <a:ext cx="303550" cy="920903"/>
                </a:xfrm>
                <a:prstGeom prst="bentConnector2">
                  <a:avLst/>
                </a:prstGeom>
                <a:ln w="15875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3" name="Graphic 62" descr="Upward trend outline">
              <a:extLst>
                <a:ext uri="{FF2B5EF4-FFF2-40B4-BE49-F238E27FC236}">
                  <a16:creationId xmlns:a16="http://schemas.microsoft.com/office/drawing/2014/main" id="{F22C497C-D774-55A2-37E8-6B7DDDDDF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29514" y="4229218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10A2AB7-82B9-2059-C0BD-5BA9F6660556}"/>
              </a:ext>
            </a:extLst>
          </p:cNvPr>
          <p:cNvGrpSpPr/>
          <p:nvPr/>
        </p:nvGrpSpPr>
        <p:grpSpPr>
          <a:xfrm>
            <a:off x="6410636" y="3264408"/>
            <a:ext cx="5133845" cy="2907290"/>
            <a:chOff x="962155" y="3042265"/>
            <a:chExt cx="5133845" cy="290729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3F3B31F-42EE-4CA0-4327-004EFD76FF88}"/>
                </a:ext>
              </a:extLst>
            </p:cNvPr>
            <p:cNvGrpSpPr/>
            <p:nvPr/>
          </p:nvGrpSpPr>
          <p:grpSpPr>
            <a:xfrm>
              <a:off x="962155" y="3042265"/>
              <a:ext cx="5133845" cy="2907290"/>
              <a:chOff x="1288575" y="1190666"/>
              <a:chExt cx="5133845" cy="2907290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B3DC3F0-D28D-A86C-A33E-A302A444AB71}"/>
                  </a:ext>
                </a:extLst>
              </p:cNvPr>
              <p:cNvGrpSpPr/>
              <p:nvPr/>
            </p:nvGrpSpPr>
            <p:grpSpPr>
              <a:xfrm>
                <a:off x="1288575" y="1697656"/>
                <a:ext cx="5133845" cy="2400300"/>
                <a:chOff x="1288575" y="1697656"/>
                <a:chExt cx="5133845" cy="2400300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47647ADE-878E-EE22-43D7-700847A1805D}"/>
                    </a:ext>
                  </a:extLst>
                </p:cNvPr>
                <p:cNvGrpSpPr/>
                <p:nvPr/>
              </p:nvGrpSpPr>
              <p:grpSpPr>
                <a:xfrm>
                  <a:off x="1288575" y="2269156"/>
                  <a:ext cx="4636970" cy="1828800"/>
                  <a:chOff x="1542449" y="3724977"/>
                  <a:chExt cx="4636970" cy="1828800"/>
                </a:xfrm>
                <a:solidFill>
                  <a:schemeClr val="accent5">
                    <a:lumMod val="60000"/>
                    <a:lumOff val="40000"/>
                  </a:schemeClr>
                </a:solidFill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DBD9710-8F50-69CB-48D9-088275206745}"/>
                      </a:ext>
                    </a:extLst>
                  </p:cNvPr>
                  <p:cNvSpPr/>
                  <p:nvPr/>
                </p:nvSpPr>
                <p:spPr>
                  <a:xfrm>
                    <a:off x="1542449" y="3724977"/>
                    <a:ext cx="4636970" cy="1828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8575"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5003D4A-5062-9386-5C80-867CAB899F6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2449" y="3985710"/>
                    <a:ext cx="4562375" cy="144655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48" name="Picture 47" descr="Diagram&#10;&#10;Description automatically generated">
                  <a:extLst>
                    <a:ext uri="{FF2B5EF4-FFF2-40B4-BE49-F238E27FC236}">
                      <a16:creationId xmlns:a16="http://schemas.microsoft.com/office/drawing/2014/main" id="{B72CB1D4-BEA7-CB07-B3C9-A5388687DB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9480" y="1697656"/>
                  <a:ext cx="1142940" cy="1143000"/>
                </a:xfrm>
                <a:prstGeom prst="ellipse">
                  <a:avLst/>
                </a:prstGeom>
                <a:ln w="19050" cap="rnd">
                  <a:solidFill>
                    <a:srgbClr val="C00000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38D57ED-E5C2-9F30-606F-F15F91795DDE}"/>
                  </a:ext>
                </a:extLst>
              </p:cNvPr>
              <p:cNvGrpSpPr/>
              <p:nvPr/>
            </p:nvGrpSpPr>
            <p:grpSpPr>
              <a:xfrm>
                <a:off x="2042098" y="1190666"/>
                <a:ext cx="3404766" cy="830997"/>
                <a:chOff x="3455268" y="1190666"/>
                <a:chExt cx="1991594" cy="830997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24CC332-92B1-4D38-22B6-7087BC62521C}"/>
                    </a:ext>
                  </a:extLst>
                </p:cNvPr>
                <p:cNvSpPr txBox="1"/>
                <p:nvPr/>
              </p:nvSpPr>
              <p:spPr>
                <a:xfrm>
                  <a:off x="3455268" y="1190666"/>
                  <a:ext cx="147556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Genome-Wide Association Studies (GWAS)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6" name="Connector: Elbow 45">
                  <a:extLst>
                    <a:ext uri="{FF2B5EF4-FFF2-40B4-BE49-F238E27FC236}">
                      <a16:creationId xmlns:a16="http://schemas.microsoft.com/office/drawing/2014/main" id="{54277D0E-59E9-2E0F-2565-7116DC7DF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930831" y="1348818"/>
                  <a:ext cx="516031" cy="516227"/>
                </a:xfrm>
                <a:prstGeom prst="bentConnector3">
                  <a:avLst>
                    <a:gd name="adj1" fmla="val -223"/>
                  </a:avLst>
                </a:prstGeom>
                <a:ln w="15875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5300C61-FAE7-5B47-E0A6-012AFB1CC9F3}"/>
                </a:ext>
              </a:extLst>
            </p:cNvPr>
            <p:cNvGrpSpPr/>
            <p:nvPr/>
          </p:nvGrpSpPr>
          <p:grpSpPr>
            <a:xfrm>
              <a:off x="1052179" y="4304663"/>
              <a:ext cx="1344168" cy="1342512"/>
              <a:chOff x="1045386" y="4304778"/>
              <a:chExt cx="1219604" cy="1344560"/>
            </a:xfrm>
          </p:grpSpPr>
          <p:pic>
            <p:nvPicPr>
              <p:cNvPr id="65" name="Graphic 64" descr="Children with solid fill">
                <a:extLst>
                  <a:ext uri="{FF2B5EF4-FFF2-40B4-BE49-F238E27FC236}">
                    <a16:creationId xmlns:a16="http://schemas.microsoft.com/office/drawing/2014/main" id="{2A5D1AFD-7E03-C96E-7D57-A1043B2F3B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79144" y="4304778"/>
                <a:ext cx="801320" cy="801321"/>
              </a:xfrm>
              <a:prstGeom prst="rect">
                <a:avLst/>
              </a:prstGeom>
            </p:spPr>
          </p:pic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13B0329-E59B-63ED-E601-D6FA534D250B}"/>
                  </a:ext>
                </a:extLst>
              </p:cNvPr>
              <p:cNvSpPr txBox="1"/>
              <p:nvPr/>
            </p:nvSpPr>
            <p:spPr>
              <a:xfrm>
                <a:off x="1045386" y="5063671"/>
                <a:ext cx="1219604" cy="585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% of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Minority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D1DC0E0-9903-99E9-A9AB-36ADD0C76CE7}"/>
                </a:ext>
              </a:extLst>
            </p:cNvPr>
            <p:cNvGrpSpPr/>
            <p:nvPr/>
          </p:nvGrpSpPr>
          <p:grpSpPr>
            <a:xfrm>
              <a:off x="2403257" y="4339222"/>
              <a:ext cx="1344696" cy="1569314"/>
              <a:chOff x="1068335" y="4316480"/>
              <a:chExt cx="1219604" cy="1569314"/>
            </a:xfrm>
          </p:grpSpPr>
          <p:pic>
            <p:nvPicPr>
              <p:cNvPr id="69" name="Graphic 68" descr="Connections with solid fill">
                <a:extLst>
                  <a:ext uri="{FF2B5EF4-FFF2-40B4-BE49-F238E27FC236}">
                    <a16:creationId xmlns:a16="http://schemas.microsoft.com/office/drawing/2014/main" id="{B42407F8-BCC1-13ED-B4B1-B54311435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310860" y="4316480"/>
                <a:ext cx="685800" cy="685800"/>
              </a:xfrm>
              <a:prstGeom prst="rect">
                <a:avLst/>
              </a:prstGeom>
            </p:spPr>
          </p:pic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A01C2CB-A149-EAFF-5928-228C62ED6BFC}"/>
                  </a:ext>
                </a:extLst>
              </p:cNvPr>
              <p:cNvSpPr txBox="1"/>
              <p:nvPr/>
            </p:nvSpPr>
            <p:spPr>
              <a:xfrm>
                <a:off x="1068335" y="5054797"/>
                <a:ext cx="12196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Scientific Collaboration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DDD0D7D-E93D-5B88-1A46-05638C469061}"/>
                </a:ext>
              </a:extLst>
            </p:cNvPr>
            <p:cNvGrpSpPr/>
            <p:nvPr/>
          </p:nvGrpSpPr>
          <p:grpSpPr>
            <a:xfrm>
              <a:off x="3706556" y="4279190"/>
              <a:ext cx="1344168" cy="1381012"/>
              <a:chOff x="1061773" y="4259231"/>
              <a:chExt cx="1487857" cy="1405611"/>
            </a:xfrm>
          </p:grpSpPr>
          <p:pic>
            <p:nvPicPr>
              <p:cNvPr id="72" name="Graphic 71" descr="Microscope with solid fill">
                <a:extLst>
                  <a:ext uri="{FF2B5EF4-FFF2-40B4-BE49-F238E27FC236}">
                    <a16:creationId xmlns:a16="http://schemas.microsoft.com/office/drawing/2014/main" id="{C6203DAE-223F-F7C9-583A-F8791F7B1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410744" y="4259231"/>
                <a:ext cx="685800" cy="685800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EBBA76D-DB9A-A9C8-F6F0-20E8234C3E04}"/>
                  </a:ext>
                </a:extLst>
              </p:cNvPr>
              <p:cNvSpPr txBox="1"/>
              <p:nvPr/>
            </p:nvSpPr>
            <p:spPr>
              <a:xfrm>
                <a:off x="1061773" y="5069651"/>
                <a:ext cx="1487857" cy="595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Genetic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Discovery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712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American Recovery and Reinvestment Act of 2009 (ARRA)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D9170D-ECF0-11E1-E0E4-AAB650AF8853}"/>
              </a:ext>
            </a:extLst>
          </p:cNvPr>
          <p:cNvGrpSpPr/>
          <p:nvPr/>
        </p:nvGrpSpPr>
        <p:grpSpPr>
          <a:xfrm>
            <a:off x="6849808" y="4626973"/>
            <a:ext cx="4246373" cy="457200"/>
            <a:chOff x="7125686" y="1418280"/>
            <a:chExt cx="4246373" cy="457200"/>
          </a:xfrm>
        </p:grpSpPr>
        <p:pic>
          <p:nvPicPr>
            <p:cNvPr id="12" name="Graphic 11" descr="Professor female with solid fill">
              <a:extLst>
                <a:ext uri="{FF2B5EF4-FFF2-40B4-BE49-F238E27FC236}">
                  <a16:creationId xmlns:a16="http://schemas.microsoft.com/office/drawing/2014/main" id="{743E6A35-4C7F-7B85-85CF-B9BD046E0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125686" y="1418280"/>
              <a:ext cx="457200" cy="4572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EF0417F-502C-C2AF-D660-C0B28216F5CB}"/>
                </a:ext>
              </a:extLst>
            </p:cNvPr>
            <p:cNvSpPr txBox="1"/>
            <p:nvPr/>
          </p:nvSpPr>
          <p:spPr>
            <a:xfrm>
              <a:off x="7924771" y="1465804"/>
              <a:ext cx="3447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13,000 PIs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A1AC8D5-925B-AE97-5324-D7AED01C6060}"/>
              </a:ext>
            </a:extLst>
          </p:cNvPr>
          <p:cNvGrpSpPr/>
          <p:nvPr/>
        </p:nvGrpSpPr>
        <p:grpSpPr>
          <a:xfrm>
            <a:off x="6827177" y="3763494"/>
            <a:ext cx="4246374" cy="646331"/>
            <a:chOff x="7125685" y="1418280"/>
            <a:chExt cx="4246374" cy="646331"/>
          </a:xfrm>
        </p:grpSpPr>
        <p:pic>
          <p:nvPicPr>
            <p:cNvPr id="75" name="Graphic 74" descr="Microscope with solid fill">
              <a:extLst>
                <a:ext uri="{FF2B5EF4-FFF2-40B4-BE49-F238E27FC236}">
                  <a16:creationId xmlns:a16="http://schemas.microsoft.com/office/drawing/2014/main" id="{AC0C1D41-CC7A-D62E-FCFB-1EFD5ED1E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125685" y="1512845"/>
              <a:ext cx="457200" cy="457200"/>
            </a:xfrm>
            <a:prstGeom prst="rect">
              <a:avLst/>
            </a:prstGeom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72204C6-F8D6-78AD-8A77-17252ACB3A1D}"/>
                </a:ext>
              </a:extLst>
            </p:cNvPr>
            <p:cNvSpPr txBox="1"/>
            <p:nvPr/>
          </p:nvSpPr>
          <p:spPr>
            <a:xfrm>
              <a:off x="7924771" y="1418280"/>
              <a:ext cx="3447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12,000 grants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21,581 projects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5641B15-B5A0-8DA7-DC85-EA7934F78F59}"/>
              </a:ext>
            </a:extLst>
          </p:cNvPr>
          <p:cNvGrpSpPr/>
          <p:nvPr/>
        </p:nvGrpSpPr>
        <p:grpSpPr>
          <a:xfrm>
            <a:off x="6827177" y="1801251"/>
            <a:ext cx="4505543" cy="646331"/>
            <a:chOff x="7093669" y="1527983"/>
            <a:chExt cx="4481958" cy="646331"/>
          </a:xfrm>
        </p:grpSpPr>
        <p:pic>
          <p:nvPicPr>
            <p:cNvPr id="78" name="Graphic 77" descr="Dollar with solid fill">
              <a:extLst>
                <a:ext uri="{FF2B5EF4-FFF2-40B4-BE49-F238E27FC236}">
                  <a16:creationId xmlns:a16="http://schemas.microsoft.com/office/drawing/2014/main" id="{F84045AB-08C0-1988-3871-9190348A4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7093669" y="1668087"/>
              <a:ext cx="457200" cy="45720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E9F5028-C9DC-06CA-2C4A-CEE74EB883DA}"/>
                </a:ext>
              </a:extLst>
            </p:cNvPr>
            <p:cNvSpPr txBox="1"/>
            <p:nvPr/>
          </p:nvSpPr>
          <p:spPr>
            <a:xfrm>
              <a:off x="7892757" y="1527983"/>
              <a:ext cx="36828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 billion, 2 years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80% for extramural scientific research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779E4EA-4103-EB01-72E7-100071AD303D}"/>
              </a:ext>
            </a:extLst>
          </p:cNvPr>
          <p:cNvGrpSpPr/>
          <p:nvPr/>
        </p:nvGrpSpPr>
        <p:grpSpPr>
          <a:xfrm>
            <a:off x="6831384" y="5371703"/>
            <a:ext cx="4246373" cy="646331"/>
            <a:chOff x="7125686" y="1418280"/>
            <a:chExt cx="4246373" cy="646331"/>
          </a:xfrm>
        </p:grpSpPr>
        <p:pic>
          <p:nvPicPr>
            <p:cNvPr id="81" name="Graphic 80" descr="Pie chart with solid fill">
              <a:extLst>
                <a:ext uri="{FF2B5EF4-FFF2-40B4-BE49-F238E27FC236}">
                  <a16:creationId xmlns:a16="http://schemas.microsoft.com/office/drawing/2014/main" id="{099DE7C5-DAC8-50E7-7BE1-AB60C7624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7125686" y="1460926"/>
              <a:ext cx="457200" cy="45720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F3F4F8D-B815-CD36-352E-66B8BCC3590F}"/>
                </a:ext>
              </a:extLst>
            </p:cNvPr>
            <p:cNvSpPr txBox="1"/>
            <p:nvPr/>
          </p:nvSpPr>
          <p:spPr>
            <a:xfrm>
              <a:off x="7924771" y="1418280"/>
              <a:ext cx="34472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9% new PIs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1/6 of total funding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10BDBC6-9C6B-30F1-6609-B90C7A998159}"/>
              </a:ext>
            </a:extLst>
          </p:cNvPr>
          <p:cNvGrpSpPr/>
          <p:nvPr/>
        </p:nvGrpSpPr>
        <p:grpSpPr>
          <a:xfrm>
            <a:off x="6849808" y="2607865"/>
            <a:ext cx="4501334" cy="923330"/>
            <a:chOff x="7144110" y="1607093"/>
            <a:chExt cx="4501334" cy="923330"/>
          </a:xfrm>
        </p:grpSpPr>
        <p:pic>
          <p:nvPicPr>
            <p:cNvPr id="84" name="Graphic 83" descr="Teacher with solid fill">
              <a:extLst>
                <a:ext uri="{FF2B5EF4-FFF2-40B4-BE49-F238E27FC236}">
                  <a16:creationId xmlns:a16="http://schemas.microsoft.com/office/drawing/2014/main" id="{2BD63C5F-A682-10C2-E456-5D1BF3E0A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144110" y="1840158"/>
              <a:ext cx="457200" cy="457200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18284D2-74C1-6DE1-6EF0-24958051A0DE}"/>
                </a:ext>
              </a:extLst>
            </p:cNvPr>
            <p:cNvSpPr txBox="1"/>
            <p:nvPr/>
          </p:nvSpPr>
          <p:spPr>
            <a:xfrm>
              <a:off x="7943195" y="1607093"/>
              <a:ext cx="370224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Training program for junior or minority, or female scientists, providing start-up packages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17DD28C-442D-EE32-35A3-EC2D34E96F3B}"/>
              </a:ext>
            </a:extLst>
          </p:cNvPr>
          <p:cNvGrpSpPr/>
          <p:nvPr/>
        </p:nvGrpSpPr>
        <p:grpSpPr>
          <a:xfrm>
            <a:off x="859280" y="1760650"/>
            <a:ext cx="5426060" cy="4114800"/>
            <a:chOff x="859280" y="1760650"/>
            <a:chExt cx="5426060" cy="33741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C54949F-EAE3-0FB8-0C0C-BD3280E132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98" b="41505"/>
            <a:stretch/>
          </p:blipFill>
          <p:spPr>
            <a:xfrm>
              <a:off x="859280" y="1760650"/>
              <a:ext cx="5426060" cy="3374136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1465F88-DB5A-D31A-B6E2-70EC25992B04}"/>
                </a:ext>
              </a:extLst>
            </p:cNvPr>
            <p:cNvSpPr/>
            <p:nvPr/>
          </p:nvSpPr>
          <p:spPr>
            <a:xfrm>
              <a:off x="4388177" y="2549951"/>
              <a:ext cx="1032235" cy="485480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88B144E-3CC5-5E73-F5CE-2EE554D8528F}"/>
                </a:ext>
              </a:extLst>
            </p:cNvPr>
            <p:cNvCxnSpPr/>
            <p:nvPr/>
          </p:nvCxnSpPr>
          <p:spPr>
            <a:xfrm>
              <a:off x="4069582" y="3585003"/>
              <a:ext cx="0" cy="99077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9C010DD-CF20-8F88-4E54-921721057FE3}"/>
                </a:ext>
              </a:extLst>
            </p:cNvPr>
            <p:cNvCxnSpPr/>
            <p:nvPr/>
          </p:nvCxnSpPr>
          <p:spPr>
            <a:xfrm>
              <a:off x="4221982" y="3585003"/>
              <a:ext cx="0" cy="990779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582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GWAS Premier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3DDAE7-C1AB-81DD-D994-59483C676F42}"/>
              </a:ext>
            </a:extLst>
          </p:cNvPr>
          <p:cNvGrpSpPr/>
          <p:nvPr/>
        </p:nvGrpSpPr>
        <p:grpSpPr>
          <a:xfrm>
            <a:off x="-33870" y="3657600"/>
            <a:ext cx="10430939" cy="3200400"/>
            <a:chOff x="568571" y="3544067"/>
            <a:chExt cx="10430939" cy="32004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050EEFB-672A-BE9E-3638-357D311D3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8571" y="3544067"/>
              <a:ext cx="5689600" cy="32004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0143CEF-746C-F6B4-637C-08367C9FC9C8}"/>
                </a:ext>
              </a:extLst>
            </p:cNvPr>
            <p:cNvGrpSpPr/>
            <p:nvPr/>
          </p:nvGrpSpPr>
          <p:grpSpPr>
            <a:xfrm>
              <a:off x="7277493" y="4682602"/>
              <a:ext cx="3722017" cy="1015663"/>
              <a:chOff x="7277493" y="4682602"/>
              <a:chExt cx="3722017" cy="101566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6B0B45B-0C1D-3043-88F6-1619D2EC268E}"/>
                  </a:ext>
                </a:extLst>
              </p:cNvPr>
              <p:cNvSpPr txBox="1"/>
              <p:nvPr/>
            </p:nvSpPr>
            <p:spPr>
              <a:xfrm>
                <a:off x="7277493" y="4682602"/>
                <a:ext cx="372201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proxima-nova"/>
                    <a:ea typeface="+mn-ea"/>
                    <a:cs typeface="+mn-cs"/>
                  </a:rPr>
                  <a:t>Genome-Wide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proxima-nova"/>
                    <a:ea typeface="+mn-ea"/>
                    <a:cs typeface="+mn-cs"/>
                  </a:rPr>
                  <a:t>Association Studies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proxima-nova"/>
                  <a:ea typeface="+mn-ea"/>
                  <a:cs typeface="+mn-cs"/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6D75296-BDB4-6EEA-4C71-F8657270832B}"/>
                  </a:ext>
                </a:extLst>
              </p:cNvPr>
              <p:cNvCxnSpPr/>
              <p:nvPr/>
            </p:nvCxnSpPr>
            <p:spPr>
              <a:xfrm>
                <a:off x="7352907" y="5413248"/>
                <a:ext cx="1941921" cy="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BB876-0A92-873B-22C4-01C2FDE5715D}"/>
              </a:ext>
            </a:extLst>
          </p:cNvPr>
          <p:cNvGrpSpPr/>
          <p:nvPr/>
        </p:nvGrpSpPr>
        <p:grpSpPr>
          <a:xfrm>
            <a:off x="2378877" y="780365"/>
            <a:ext cx="9813123" cy="2743200"/>
            <a:chOff x="1828800" y="685800"/>
            <a:chExt cx="9813123" cy="2743200"/>
          </a:xfrm>
        </p:grpSpPr>
        <p:pic>
          <p:nvPicPr>
            <p:cNvPr id="21" name="Picture 20" descr="Diagram&#10;&#10;Description automatically generated">
              <a:extLst>
                <a:ext uri="{FF2B5EF4-FFF2-40B4-BE49-F238E27FC236}">
                  <a16:creationId xmlns:a16="http://schemas.microsoft.com/office/drawing/2014/main" id="{9C37D287-EB44-4115-8857-A5141F626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1523" y="685800"/>
              <a:ext cx="7010400" cy="274320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D7E7DEB-B194-84F8-2E67-7FD2E61FFFD7}"/>
                </a:ext>
              </a:extLst>
            </p:cNvPr>
            <p:cNvGrpSpPr/>
            <p:nvPr/>
          </p:nvGrpSpPr>
          <p:grpSpPr>
            <a:xfrm>
              <a:off x="1828800" y="1958179"/>
              <a:ext cx="2347274" cy="730032"/>
              <a:chOff x="1828800" y="1958179"/>
              <a:chExt cx="2347274" cy="7300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AE5A5B-5DE9-205E-A4F7-125F8FA74EBC}"/>
                  </a:ext>
                </a:extLst>
              </p:cNvPr>
              <p:cNvSpPr txBox="1"/>
              <p:nvPr/>
            </p:nvSpPr>
            <p:spPr>
              <a:xfrm>
                <a:off x="1828800" y="1958179"/>
                <a:ext cx="234727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proxima-nova"/>
                    <a:ea typeface="+mn-ea"/>
                    <a:cs typeface="+mn-cs"/>
                  </a:rPr>
                  <a:t>Single Nucleotide Polymorphism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7EF1C6E-7400-D4D5-3CEF-B726021FC63C}"/>
                  </a:ext>
                </a:extLst>
              </p:cNvPr>
              <p:cNvCxnSpPr/>
              <p:nvPr/>
            </p:nvCxnSpPr>
            <p:spPr>
              <a:xfrm>
                <a:off x="1894788" y="2688211"/>
                <a:ext cx="1941921" cy="0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7317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A4EC2E4-990A-9770-D6CA-F941CE1FF3B0}"/>
              </a:ext>
            </a:extLst>
          </p:cNvPr>
          <p:cNvGrpSpPr/>
          <p:nvPr/>
        </p:nvGrpSpPr>
        <p:grpSpPr>
          <a:xfrm>
            <a:off x="1542171" y="1400950"/>
            <a:ext cx="10127965" cy="1103049"/>
            <a:chOff x="1956318" y="1518413"/>
            <a:chExt cx="10127965" cy="110304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659172-0DFF-E92B-3311-BBB9BEB4065A}"/>
                </a:ext>
              </a:extLst>
            </p:cNvPr>
            <p:cNvSpPr txBox="1"/>
            <p:nvPr/>
          </p:nvSpPr>
          <p:spPr>
            <a:xfrm>
              <a:off x="1956318" y="2221352"/>
              <a:ext cx="101279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How significant is the scientific value of funding science on underrepresented populations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87E76D-735E-5787-1590-41FECA90706A}"/>
                </a:ext>
              </a:extLst>
            </p:cNvPr>
            <p:cNvSpPr txBox="1"/>
            <p:nvPr/>
          </p:nvSpPr>
          <p:spPr>
            <a:xfrm>
              <a:off x="1956318" y="1518413"/>
              <a:ext cx="98310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Whether improved funding opportunity facilitates minority health research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 Questions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287B6A-4999-2763-17CB-15B4EBB8C067}"/>
              </a:ext>
            </a:extLst>
          </p:cNvPr>
          <p:cNvGrpSpPr/>
          <p:nvPr/>
        </p:nvGrpSpPr>
        <p:grpSpPr>
          <a:xfrm>
            <a:off x="1121284" y="3264408"/>
            <a:ext cx="5133845" cy="2853148"/>
            <a:chOff x="6239336" y="3090570"/>
            <a:chExt cx="5133845" cy="2853148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E951A78-14A5-454B-F4FB-6CC3A89C4D27}"/>
                </a:ext>
              </a:extLst>
            </p:cNvPr>
            <p:cNvGrpSpPr/>
            <p:nvPr/>
          </p:nvGrpSpPr>
          <p:grpSpPr>
            <a:xfrm>
              <a:off x="6239336" y="3090570"/>
              <a:ext cx="5133845" cy="2853148"/>
              <a:chOff x="6469980" y="1190666"/>
              <a:chExt cx="5133845" cy="285314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A29C5046-07A3-3F9D-2E96-4B07C28CB8C9}"/>
                  </a:ext>
                </a:extLst>
              </p:cNvPr>
              <p:cNvGrpSpPr/>
              <p:nvPr/>
            </p:nvGrpSpPr>
            <p:grpSpPr>
              <a:xfrm>
                <a:off x="6469980" y="1643514"/>
                <a:ext cx="5133845" cy="2400300"/>
                <a:chOff x="1288575" y="1697656"/>
                <a:chExt cx="5133845" cy="2400300"/>
              </a:xfrm>
              <a:solidFill>
                <a:schemeClr val="tx1">
                  <a:lumMod val="85000"/>
                </a:schemeClr>
              </a:solidFill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7A944379-B36E-3C60-F1A7-C2C7F4ADEDC6}"/>
                    </a:ext>
                  </a:extLst>
                </p:cNvPr>
                <p:cNvGrpSpPr/>
                <p:nvPr/>
              </p:nvGrpSpPr>
              <p:grpSpPr>
                <a:xfrm>
                  <a:off x="1288575" y="2269156"/>
                  <a:ext cx="4636970" cy="1828800"/>
                  <a:chOff x="1542449" y="3724977"/>
                  <a:chExt cx="4636970" cy="1828800"/>
                </a:xfrm>
                <a:grpFill/>
              </p:grpSpPr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F85905B9-A9CF-A300-75CA-96799A42145C}"/>
                      </a:ext>
                    </a:extLst>
                  </p:cNvPr>
                  <p:cNvSpPr/>
                  <p:nvPr/>
                </p:nvSpPr>
                <p:spPr>
                  <a:xfrm>
                    <a:off x="1542449" y="3724977"/>
                    <a:ext cx="4636970" cy="1828800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 w="28575">
                    <a:solidFill>
                      <a:schemeClr val="tx1">
                        <a:lumMod val="75000"/>
                      </a:schemeClr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892A2DDD-99D9-4434-466B-CA9815910146}"/>
                      </a:ext>
                    </a:extLst>
                  </p:cNvPr>
                  <p:cNvSpPr txBox="1"/>
                  <p:nvPr/>
                </p:nvSpPr>
                <p:spPr>
                  <a:xfrm>
                    <a:off x="1542449" y="3985710"/>
                    <a:ext cx="4562375" cy="1415772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$10 billion </a:t>
                    </a: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directly to NIH, available for two years, from February 2009 through September 2010.</a:t>
                    </a:r>
                  </a:p>
                </p:txBody>
              </p:sp>
            </p:grp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19B9423B-F807-0C71-67EA-5ADF0A4A40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2078" t="-4127" r="52080" b="4127"/>
                <a:stretch/>
              </p:blipFill>
              <p:spPr>
                <a:xfrm>
                  <a:off x="5279480" y="1697656"/>
                  <a:ext cx="1142940" cy="1143000"/>
                </a:xfrm>
                <a:prstGeom prst="ellipse">
                  <a:avLst/>
                </a:prstGeom>
                <a:grpFill/>
                <a:ln w="19050" cap="rnd">
                  <a:solidFill>
                    <a:srgbClr val="C00000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68DD5472-B020-A19A-3145-C9BCC0AAA6C2}"/>
                  </a:ext>
                </a:extLst>
              </p:cNvPr>
              <p:cNvGrpSpPr/>
              <p:nvPr/>
            </p:nvGrpSpPr>
            <p:grpSpPr>
              <a:xfrm>
                <a:off x="6829406" y="1190666"/>
                <a:ext cx="4202947" cy="830997"/>
                <a:chOff x="3251316" y="1190666"/>
                <a:chExt cx="2586977" cy="830997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2AA2DCD-ADF9-24B9-3616-0236C14B7832}"/>
                    </a:ext>
                  </a:extLst>
                </p:cNvPr>
                <p:cNvSpPr txBox="1"/>
                <p:nvPr/>
              </p:nvSpPr>
              <p:spPr>
                <a:xfrm>
                  <a:off x="3251316" y="1190666"/>
                  <a:ext cx="190676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American Recovery and Reinvestment Act of 2009 (ARRA)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5" name="Connector: Elbow 54">
                  <a:extLst>
                    <a:ext uri="{FF2B5EF4-FFF2-40B4-BE49-F238E27FC236}">
                      <a16:creationId xmlns:a16="http://schemas.microsoft.com/office/drawing/2014/main" id="{414BC8C4-20C7-710B-E934-60392E7A9253}"/>
                    </a:ext>
                  </a:extLst>
                </p:cNvPr>
                <p:cNvCxnSpPr>
                  <a:cxnSpLocks/>
                  <a:stCxn id="57" idx="0"/>
                </p:cNvCxnSpPr>
                <p:nvPr/>
              </p:nvCxnSpPr>
              <p:spPr>
                <a:xfrm rot="16200000" flipV="1">
                  <a:off x="5226067" y="1031288"/>
                  <a:ext cx="303550" cy="920903"/>
                </a:xfrm>
                <a:prstGeom prst="bentConnector2">
                  <a:avLst/>
                </a:prstGeom>
                <a:ln w="15875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3" name="Graphic 62" descr="Upward trend outline">
              <a:extLst>
                <a:ext uri="{FF2B5EF4-FFF2-40B4-BE49-F238E27FC236}">
                  <a16:creationId xmlns:a16="http://schemas.microsoft.com/office/drawing/2014/main" id="{F22C497C-D774-55A2-37E8-6B7DDDDDF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29514" y="4229218"/>
              <a:ext cx="914400" cy="9144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10A2AB7-82B9-2059-C0BD-5BA9F6660556}"/>
              </a:ext>
            </a:extLst>
          </p:cNvPr>
          <p:cNvGrpSpPr/>
          <p:nvPr/>
        </p:nvGrpSpPr>
        <p:grpSpPr>
          <a:xfrm>
            <a:off x="6410636" y="3264408"/>
            <a:ext cx="5133845" cy="2907290"/>
            <a:chOff x="962155" y="3042265"/>
            <a:chExt cx="5133845" cy="290729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3F3B31F-42EE-4CA0-4327-004EFD76FF88}"/>
                </a:ext>
              </a:extLst>
            </p:cNvPr>
            <p:cNvGrpSpPr/>
            <p:nvPr/>
          </p:nvGrpSpPr>
          <p:grpSpPr>
            <a:xfrm>
              <a:off x="962155" y="3042265"/>
              <a:ext cx="5133845" cy="2907290"/>
              <a:chOff x="1288575" y="1190666"/>
              <a:chExt cx="5133845" cy="2907290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B3DC3F0-D28D-A86C-A33E-A302A444AB71}"/>
                  </a:ext>
                </a:extLst>
              </p:cNvPr>
              <p:cNvGrpSpPr/>
              <p:nvPr/>
            </p:nvGrpSpPr>
            <p:grpSpPr>
              <a:xfrm>
                <a:off x="1288575" y="1697656"/>
                <a:ext cx="5133845" cy="2400300"/>
                <a:chOff x="1288575" y="1697656"/>
                <a:chExt cx="5133845" cy="2400300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47647ADE-878E-EE22-43D7-700847A1805D}"/>
                    </a:ext>
                  </a:extLst>
                </p:cNvPr>
                <p:cNvGrpSpPr/>
                <p:nvPr/>
              </p:nvGrpSpPr>
              <p:grpSpPr>
                <a:xfrm>
                  <a:off x="1288575" y="2269156"/>
                  <a:ext cx="4636970" cy="1828800"/>
                  <a:chOff x="1542449" y="3724977"/>
                  <a:chExt cx="4636970" cy="1828800"/>
                </a:xfrm>
                <a:solidFill>
                  <a:schemeClr val="accent5">
                    <a:lumMod val="60000"/>
                    <a:lumOff val="40000"/>
                  </a:schemeClr>
                </a:solidFill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DDBD9710-8F50-69CB-48D9-088275206745}"/>
                      </a:ext>
                    </a:extLst>
                  </p:cNvPr>
                  <p:cNvSpPr/>
                  <p:nvPr/>
                </p:nvSpPr>
                <p:spPr>
                  <a:xfrm>
                    <a:off x="1542449" y="3724977"/>
                    <a:ext cx="4636970" cy="18288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28575">
                    <a:noFill/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5003D4A-5062-9386-5C80-867CAB899F6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2449" y="3985710"/>
                    <a:ext cx="4562375" cy="144655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  <a:p>
                    <a:pPr marL="0" marR="0" lvl="0" indent="0" algn="just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48" name="Picture 47" descr="Diagram&#10;&#10;Description automatically generated">
                  <a:extLst>
                    <a:ext uri="{FF2B5EF4-FFF2-40B4-BE49-F238E27FC236}">
                      <a16:creationId xmlns:a16="http://schemas.microsoft.com/office/drawing/2014/main" id="{B72CB1D4-BEA7-CB07-B3C9-A5388687DB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9480" y="1697656"/>
                  <a:ext cx="1142940" cy="1143000"/>
                </a:xfrm>
                <a:prstGeom prst="ellipse">
                  <a:avLst/>
                </a:prstGeom>
                <a:ln w="19050" cap="rnd">
                  <a:solidFill>
                    <a:srgbClr val="C00000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38D57ED-E5C2-9F30-606F-F15F91795DDE}"/>
                  </a:ext>
                </a:extLst>
              </p:cNvPr>
              <p:cNvGrpSpPr/>
              <p:nvPr/>
            </p:nvGrpSpPr>
            <p:grpSpPr>
              <a:xfrm>
                <a:off x="2042098" y="1190666"/>
                <a:ext cx="3404766" cy="830997"/>
                <a:chOff x="3455268" y="1190666"/>
                <a:chExt cx="1991594" cy="830997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24CC332-92B1-4D38-22B6-7087BC62521C}"/>
                    </a:ext>
                  </a:extLst>
                </p:cNvPr>
                <p:cNvSpPr txBox="1"/>
                <p:nvPr/>
              </p:nvSpPr>
              <p:spPr>
                <a:xfrm>
                  <a:off x="3455268" y="1190666"/>
                  <a:ext cx="147556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Genome-Wide Association Studies (GWAS)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6" name="Connector: Elbow 45">
                  <a:extLst>
                    <a:ext uri="{FF2B5EF4-FFF2-40B4-BE49-F238E27FC236}">
                      <a16:creationId xmlns:a16="http://schemas.microsoft.com/office/drawing/2014/main" id="{54277D0E-59E9-2E0F-2565-7116DC7DF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4930831" y="1348818"/>
                  <a:ext cx="516031" cy="516227"/>
                </a:xfrm>
                <a:prstGeom prst="bentConnector3">
                  <a:avLst>
                    <a:gd name="adj1" fmla="val -223"/>
                  </a:avLst>
                </a:prstGeom>
                <a:ln w="15875"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5300C61-FAE7-5B47-E0A6-012AFB1CC9F3}"/>
                </a:ext>
              </a:extLst>
            </p:cNvPr>
            <p:cNvGrpSpPr/>
            <p:nvPr/>
          </p:nvGrpSpPr>
          <p:grpSpPr>
            <a:xfrm>
              <a:off x="1052179" y="4304663"/>
              <a:ext cx="1344168" cy="1342512"/>
              <a:chOff x="1045386" y="4304778"/>
              <a:chExt cx="1219604" cy="1344560"/>
            </a:xfrm>
          </p:grpSpPr>
          <p:pic>
            <p:nvPicPr>
              <p:cNvPr id="65" name="Graphic 64" descr="Children with solid fill">
                <a:extLst>
                  <a:ext uri="{FF2B5EF4-FFF2-40B4-BE49-F238E27FC236}">
                    <a16:creationId xmlns:a16="http://schemas.microsoft.com/office/drawing/2014/main" id="{2A5D1AFD-7E03-C96E-7D57-A1043B2F3B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279144" y="4304778"/>
                <a:ext cx="801320" cy="801321"/>
              </a:xfrm>
              <a:prstGeom prst="rect">
                <a:avLst/>
              </a:prstGeom>
            </p:spPr>
          </p:pic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13B0329-E59B-63ED-E601-D6FA534D250B}"/>
                  </a:ext>
                </a:extLst>
              </p:cNvPr>
              <p:cNvSpPr txBox="1"/>
              <p:nvPr/>
            </p:nvSpPr>
            <p:spPr>
              <a:xfrm>
                <a:off x="1045386" y="5063671"/>
                <a:ext cx="1219604" cy="585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% of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Minority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D1DC0E0-9903-99E9-A9AB-36ADD0C76CE7}"/>
                </a:ext>
              </a:extLst>
            </p:cNvPr>
            <p:cNvGrpSpPr/>
            <p:nvPr/>
          </p:nvGrpSpPr>
          <p:grpSpPr>
            <a:xfrm>
              <a:off x="2403257" y="4339222"/>
              <a:ext cx="1344696" cy="1569314"/>
              <a:chOff x="1068335" y="4316480"/>
              <a:chExt cx="1219604" cy="1569314"/>
            </a:xfrm>
          </p:grpSpPr>
          <p:pic>
            <p:nvPicPr>
              <p:cNvPr id="69" name="Graphic 68" descr="Connections with solid fill">
                <a:extLst>
                  <a:ext uri="{FF2B5EF4-FFF2-40B4-BE49-F238E27FC236}">
                    <a16:creationId xmlns:a16="http://schemas.microsoft.com/office/drawing/2014/main" id="{B42407F8-BCC1-13ED-B4B1-B54311435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310860" y="4316480"/>
                <a:ext cx="685800" cy="685800"/>
              </a:xfrm>
              <a:prstGeom prst="rect">
                <a:avLst/>
              </a:prstGeom>
            </p:spPr>
          </p:pic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A01C2CB-A149-EAFF-5928-228C62ED6BFC}"/>
                  </a:ext>
                </a:extLst>
              </p:cNvPr>
              <p:cNvSpPr txBox="1"/>
              <p:nvPr/>
            </p:nvSpPr>
            <p:spPr>
              <a:xfrm>
                <a:off x="1068335" y="5054797"/>
                <a:ext cx="12196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Scientific Collaboration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DDD0D7D-E93D-5B88-1A46-05638C469061}"/>
                </a:ext>
              </a:extLst>
            </p:cNvPr>
            <p:cNvGrpSpPr/>
            <p:nvPr/>
          </p:nvGrpSpPr>
          <p:grpSpPr>
            <a:xfrm>
              <a:off x="3706556" y="4279190"/>
              <a:ext cx="1344168" cy="1381012"/>
              <a:chOff x="1061773" y="4259231"/>
              <a:chExt cx="1487857" cy="1405611"/>
            </a:xfrm>
          </p:grpSpPr>
          <p:pic>
            <p:nvPicPr>
              <p:cNvPr id="72" name="Graphic 71" descr="Microscope with solid fill">
                <a:extLst>
                  <a:ext uri="{FF2B5EF4-FFF2-40B4-BE49-F238E27FC236}">
                    <a16:creationId xmlns:a16="http://schemas.microsoft.com/office/drawing/2014/main" id="{C6203DAE-223F-F7C9-583A-F8791F7B1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1410744" y="4259231"/>
                <a:ext cx="685800" cy="685800"/>
              </a:xfrm>
              <a:prstGeom prst="rect">
                <a:avLst/>
              </a:prstGeom>
            </p:spPr>
          </p:pic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EBBA76D-DB9A-A9C8-F6F0-20E8234C3E04}"/>
                  </a:ext>
                </a:extLst>
              </p:cNvPr>
              <p:cNvSpPr txBox="1"/>
              <p:nvPr/>
            </p:nvSpPr>
            <p:spPr>
              <a:xfrm>
                <a:off x="1061773" y="5069651"/>
                <a:ext cx="1487857" cy="595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Genetic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Discovery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118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55BF8A74-6743-F6C1-1587-0317512CBA5A}"/>
              </a:ext>
            </a:extLst>
          </p:cNvPr>
          <p:cNvSpPr/>
          <p:nvPr/>
        </p:nvSpPr>
        <p:spPr>
          <a:xfrm>
            <a:off x="4759981" y="1443124"/>
            <a:ext cx="3650183" cy="5029200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Creation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A19954-2705-930B-BD11-309F31D47860}"/>
              </a:ext>
            </a:extLst>
          </p:cNvPr>
          <p:cNvGrpSpPr/>
          <p:nvPr/>
        </p:nvGrpSpPr>
        <p:grpSpPr>
          <a:xfrm>
            <a:off x="515404" y="1443124"/>
            <a:ext cx="4114800" cy="6138727"/>
            <a:chOff x="509048" y="2083323"/>
            <a:chExt cx="5505254" cy="544438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437B1F-1BA7-7BBF-ACC8-24DD48565703}"/>
                </a:ext>
              </a:extLst>
            </p:cNvPr>
            <p:cNvSpPr/>
            <p:nvPr/>
          </p:nvSpPr>
          <p:spPr>
            <a:xfrm>
              <a:off x="509048" y="2083323"/>
              <a:ext cx="5505254" cy="446035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1864FA0-7F71-4FDD-9592-34A002745CA4}"/>
                </a:ext>
              </a:extLst>
            </p:cNvPr>
            <p:cNvSpPr txBox="1"/>
            <p:nvPr/>
          </p:nvSpPr>
          <p:spPr>
            <a:xfrm>
              <a:off x="1114816" y="2395977"/>
              <a:ext cx="4788818" cy="51317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GWAS Catalog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 comprehensive </a:t>
              </a: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c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ollection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of GWAS articles since 2005.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PubMed Portal: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lang="en-US" dirty="0">
                  <a:solidFill>
                    <a:prstClr val="black"/>
                  </a:solidFill>
                  <a:latin typeface="Calibri" panose="020F0502020204030204"/>
                </a:rPr>
                <a:t>O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rdered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author list &amp; grant information.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NIH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RePORTER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 list of ARRA-NIH grants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Medical Expenditure Panel Survey (MEPS):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National-representative disease estimates 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4A85F07-DF4C-5FD8-E065-3EDB196D6832}"/>
                </a:ext>
              </a:extLst>
            </p:cNvPr>
            <p:cNvSpPr txBox="1"/>
            <p:nvPr/>
          </p:nvSpPr>
          <p:spPr>
            <a:xfrm>
              <a:off x="1045458" y="4636454"/>
              <a:ext cx="4788818" cy="3002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4A6946-D04B-AE8C-88B4-0E357426A4C4}"/>
                </a:ext>
              </a:extLst>
            </p:cNvPr>
            <p:cNvSpPr txBox="1"/>
            <p:nvPr/>
          </p:nvSpPr>
          <p:spPr>
            <a:xfrm>
              <a:off x="1045458" y="5558584"/>
              <a:ext cx="4791456" cy="3002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932F38B-E0F1-5227-02ED-19EC93C5C057}"/>
              </a:ext>
            </a:extLst>
          </p:cNvPr>
          <p:cNvSpPr txBox="1"/>
          <p:nvPr/>
        </p:nvSpPr>
        <p:spPr>
          <a:xfrm>
            <a:off x="4759981" y="1443124"/>
            <a:ext cx="2971800" cy="42780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Web-Scaping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Text Mining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Fuzzy-wuzzy Matching</a:t>
            </a:r>
            <a:endParaRPr lang="en-US" sz="2000" b="1" dirty="0">
              <a:solidFill>
                <a:srgbClr val="5B9BD5">
                  <a:lumMod val="50000"/>
                </a:srgbClr>
              </a:solidFill>
              <a:latin typeface="Calibri" panose="020F0502020204030204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 Joining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9103EB-22BD-6CE1-B346-B0E2A63E1888}"/>
              </a:ext>
            </a:extLst>
          </p:cNvPr>
          <p:cNvGrpSpPr/>
          <p:nvPr/>
        </p:nvGrpSpPr>
        <p:grpSpPr>
          <a:xfrm>
            <a:off x="4376512" y="3698875"/>
            <a:ext cx="625314" cy="622992"/>
            <a:chOff x="5579095" y="3334732"/>
            <a:chExt cx="625314" cy="622992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089C5427-B860-0295-940B-A76AFD63F48F}"/>
                </a:ext>
              </a:extLst>
            </p:cNvPr>
            <p:cNvSpPr/>
            <p:nvPr/>
          </p:nvSpPr>
          <p:spPr>
            <a:xfrm>
              <a:off x="5579095" y="3334732"/>
              <a:ext cx="625314" cy="62299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1" name="Graphic 10" descr="Add with solid fill">
              <a:extLst>
                <a:ext uri="{FF2B5EF4-FFF2-40B4-BE49-F238E27FC236}">
                  <a16:creationId xmlns:a16="http://schemas.microsoft.com/office/drawing/2014/main" id="{DAB2991F-0E1E-AE30-D771-F95DE3EE0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08872" y="3459190"/>
              <a:ext cx="365760" cy="36576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43846DE-75BD-D2AF-21D7-96F3A51ACE16}"/>
              </a:ext>
            </a:extLst>
          </p:cNvPr>
          <p:cNvGrpSpPr/>
          <p:nvPr/>
        </p:nvGrpSpPr>
        <p:grpSpPr>
          <a:xfrm>
            <a:off x="8168276" y="2318641"/>
            <a:ext cx="3508320" cy="2747615"/>
            <a:chOff x="8073704" y="1718204"/>
            <a:chExt cx="3508320" cy="274761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915C49-5860-E517-BB4D-CD058888C75E}"/>
                </a:ext>
              </a:extLst>
            </p:cNvPr>
            <p:cNvSpPr txBox="1"/>
            <p:nvPr/>
          </p:nvSpPr>
          <p:spPr>
            <a:xfrm>
              <a:off x="8073704" y="1718204"/>
              <a:ext cx="3429000" cy="707886"/>
            </a:xfrm>
            <a:prstGeom prst="rect">
              <a:avLst/>
            </a:prstGeom>
            <a:solidFill>
              <a:srgbClr val="EAE6F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2700+ GWAS </a:t>
              </a:r>
              <a:r>
                <a:rPr lang="en-US" sz="2000" b="1" dirty="0">
                  <a:solidFill>
                    <a:srgbClr val="5B9BD5">
                      <a:lumMod val="50000"/>
                    </a:srgbClr>
                  </a:solidFill>
                  <a:latin typeface="Calibri" panose="020F0502020204030204"/>
                </a:rPr>
                <a:t>Studies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(27 diseases, 2005-2016)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CA9E074-44E2-327E-6D82-38EFD8216043}"/>
                </a:ext>
              </a:extLst>
            </p:cNvPr>
            <p:cNvSpPr txBox="1"/>
            <p:nvPr/>
          </p:nvSpPr>
          <p:spPr>
            <a:xfrm>
              <a:off x="8610224" y="2711493"/>
              <a:ext cx="29718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Study sample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Subject’s ancestry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Author’s ancestry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Author’s order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Grant information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SNPs/Genes discovered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29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 Sample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8AF3B1-1D62-CFD7-8CCB-1A51B42199D8}"/>
              </a:ext>
            </a:extLst>
          </p:cNvPr>
          <p:cNvGrpSpPr/>
          <p:nvPr/>
        </p:nvGrpSpPr>
        <p:grpSpPr>
          <a:xfrm>
            <a:off x="1020658" y="2411097"/>
            <a:ext cx="3429000" cy="2760468"/>
            <a:chOff x="8099679" y="2498273"/>
            <a:chExt cx="3429000" cy="27604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5143CA-CF25-C687-55B5-1B997ADB2A5C}"/>
                </a:ext>
              </a:extLst>
            </p:cNvPr>
            <p:cNvSpPr txBox="1"/>
            <p:nvPr/>
          </p:nvSpPr>
          <p:spPr>
            <a:xfrm>
              <a:off x="8099679" y="2498273"/>
              <a:ext cx="3429000" cy="707886"/>
            </a:xfrm>
            <a:prstGeom prst="rect">
              <a:avLst/>
            </a:prstGeom>
            <a:solidFill>
              <a:srgbClr val="EAE6F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2700+ GWAS </a:t>
              </a:r>
              <a:r>
                <a:rPr lang="en-US" sz="2000" b="1" dirty="0">
                  <a:solidFill>
                    <a:srgbClr val="5B9BD5">
                      <a:lumMod val="50000"/>
                    </a:srgbClr>
                  </a:solidFill>
                  <a:latin typeface="Calibri" panose="020F0502020204030204"/>
                </a:rPr>
                <a:t>Studies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(27 diseases, 2005-2016)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5DAB13-051B-F9A6-84D9-034B5F925CA0}"/>
                </a:ext>
              </a:extLst>
            </p:cNvPr>
            <p:cNvSpPr txBox="1"/>
            <p:nvPr/>
          </p:nvSpPr>
          <p:spPr>
            <a:xfrm>
              <a:off x="8328279" y="3504415"/>
              <a:ext cx="29718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Study sample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Subject’s ancestry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Author’s ancestry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Author’s order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Grant information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SNPs/Genes discovered</a:t>
              </a:r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5E46D3F3-8DA6-5D77-D866-0D023D203E9D}"/>
              </a:ext>
            </a:extLst>
          </p:cNvPr>
          <p:cNvSpPr/>
          <p:nvPr/>
        </p:nvSpPr>
        <p:spPr>
          <a:xfrm>
            <a:off x="4910887" y="2637170"/>
            <a:ext cx="1772239" cy="168219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1201BB-D42F-F8F2-9263-2E0ADCBA7822}"/>
              </a:ext>
            </a:extLst>
          </p:cNvPr>
          <p:cNvGrpSpPr/>
          <p:nvPr/>
        </p:nvGrpSpPr>
        <p:grpSpPr>
          <a:xfrm>
            <a:off x="7144355" y="2411097"/>
            <a:ext cx="3429000" cy="2206471"/>
            <a:chOff x="8073704" y="1718204"/>
            <a:chExt cx="3429000" cy="220647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3A48E1-D5BB-43C8-A828-41520E115233}"/>
                </a:ext>
              </a:extLst>
            </p:cNvPr>
            <p:cNvSpPr txBox="1"/>
            <p:nvPr/>
          </p:nvSpPr>
          <p:spPr>
            <a:xfrm>
              <a:off x="8073704" y="1718204"/>
              <a:ext cx="3429000" cy="70788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183 Disease-Year </a:t>
              </a:r>
            </a:p>
            <a:p>
              <a:pPr marL="0" marR="0" lvl="1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5B9BD5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Observations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EAB13F-441E-7A14-3C7A-171EBF6B42A6}"/>
                </a:ext>
              </a:extLst>
            </p:cNvPr>
            <p:cNvSpPr txBox="1"/>
            <p:nvPr/>
          </p:nvSpPr>
          <p:spPr>
            <a:xfrm>
              <a:off x="8302304" y="2724346"/>
              <a:ext cx="2971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 of minority subjects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 of minority authors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Share of minority-based SNPs discoveries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794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Empirical Identification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D306D-2B9D-ECA0-523C-771ED936011C}"/>
              </a:ext>
            </a:extLst>
          </p:cNvPr>
          <p:cNvSpPr txBox="1"/>
          <p:nvPr/>
        </p:nvSpPr>
        <p:spPr>
          <a:xfrm>
            <a:off x="678729" y="1485200"/>
            <a:ext cx="1059572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Goal: Causal estimates for the funding policy impacts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Challenge: No explicit definition for the treated and control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Identification Intuition: Disease research may benefit from the ARRA-NIH grant expansion differently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</a:rPr>
              <a:t>Minority health research that is more feasible may be more likely to be supported by ARRA-NIH grant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prstClr val="black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prstClr val="black"/>
                </a:solidFill>
              </a:rPr>
              <a:t>How to measure “</a:t>
            </a:r>
            <a:r>
              <a:rPr lang="en-US" sz="2000" b="1" dirty="0">
                <a:solidFill>
                  <a:srgbClr val="C00000"/>
                </a:solidFill>
              </a:rPr>
              <a:t>feasibility</a:t>
            </a:r>
            <a:r>
              <a:rPr lang="en-US" sz="2000" dirty="0">
                <a:solidFill>
                  <a:prstClr val="black"/>
                </a:solidFill>
              </a:rPr>
              <a:t>”?  -&gt;  </a:t>
            </a:r>
            <a:r>
              <a:rPr lang="en-US" sz="2000" dirty="0">
                <a:solidFill>
                  <a:srgbClr val="3253DC"/>
                </a:solidFill>
              </a:rPr>
              <a:t>Relative Referral Base (RRB) for minority subjects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E133C-A5FA-C0FB-087C-92567FC9F253}"/>
              </a:ext>
            </a:extLst>
          </p:cNvPr>
          <p:cNvSpPr txBox="1"/>
          <p:nvPr/>
        </p:nvSpPr>
        <p:spPr>
          <a:xfrm>
            <a:off x="678729" y="5732516"/>
            <a:ext cx="10741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19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57200" y="4572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Empirical Identification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D306D-2B9D-ECA0-523C-771ED936011C}"/>
              </a:ext>
            </a:extLst>
          </p:cNvPr>
          <p:cNvSpPr txBox="1"/>
          <p:nvPr/>
        </p:nvSpPr>
        <p:spPr>
          <a:xfrm>
            <a:off x="678730" y="1125484"/>
            <a:ext cx="105957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Relative Referral Base (RRB) for minority subjects: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9C956A-25D9-1CFA-298D-907E18241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7854" y="3491251"/>
            <a:ext cx="3890682" cy="640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0E133C-A5FA-C0FB-087C-92567FC9F253}"/>
              </a:ext>
            </a:extLst>
          </p:cNvPr>
          <p:cNvSpPr txBox="1"/>
          <p:nvPr/>
        </p:nvSpPr>
        <p:spPr>
          <a:xfrm>
            <a:off x="678730" y="5457256"/>
            <a:ext cx="107418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H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igher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RRB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Lower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recruitment cost of minority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  Higher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feasibility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 Higher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 funding 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  <a:sym typeface="Wingdings" panose="05000000000000000000" pitchFamily="2" charset="2"/>
              </a:rPr>
              <a:t>c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Wingdings" panose="05000000000000000000" pitchFamily="2" charset="2"/>
              </a:rPr>
              <a:t>hance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D5444E-A272-1E60-300D-E33866652907}"/>
              </a:ext>
            </a:extLst>
          </p:cNvPr>
          <p:cNvGrpSpPr/>
          <p:nvPr/>
        </p:nvGrpSpPr>
        <p:grpSpPr>
          <a:xfrm>
            <a:off x="1074106" y="2384193"/>
            <a:ext cx="5021894" cy="1044807"/>
            <a:chOff x="1170561" y="2811064"/>
            <a:chExt cx="5021894" cy="10448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C3017E-B9F4-E8AD-07AF-28477E08832B}"/>
                </a:ext>
              </a:extLst>
            </p:cNvPr>
            <p:cNvSpPr txBox="1"/>
            <p:nvPr/>
          </p:nvSpPr>
          <p:spPr>
            <a:xfrm flipH="1">
              <a:off x="1170561" y="2811064"/>
              <a:ext cx="50218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Number of </a:t>
              </a:r>
              <a:r>
                <a:rPr lang="en-US" sz="2000" b="1" dirty="0">
                  <a:solidFill>
                    <a:srgbClr val="C00000"/>
                  </a:solidFill>
                </a:rPr>
                <a:t>minority</a:t>
              </a:r>
              <a:r>
                <a:rPr lang="en-US" sz="2000" dirty="0">
                  <a:solidFill>
                    <a:schemeClr val="bg1"/>
                  </a:solidFill>
                </a:rPr>
                <a:t> with medical conditions </a:t>
              </a:r>
            </a:p>
            <a:p>
              <a:pPr lvl="0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associated with disease </a:t>
              </a:r>
              <a:r>
                <a:rPr lang="en-US" sz="2000" i="1" dirty="0">
                  <a:solidFill>
                    <a:schemeClr val="bg1"/>
                  </a:solidFill>
                </a:rPr>
                <a:t>d </a:t>
              </a:r>
              <a:r>
                <a:rPr lang="en-US" sz="2000" dirty="0">
                  <a:solidFill>
                    <a:schemeClr val="bg1"/>
                  </a:solidFill>
                </a:rPr>
                <a:t>in 2005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132905F-4DEC-C836-2846-8537DE2D3BAA}"/>
                </a:ext>
              </a:extLst>
            </p:cNvPr>
            <p:cNvCxnSpPr/>
            <p:nvPr/>
          </p:nvCxnSpPr>
          <p:spPr>
            <a:xfrm>
              <a:off x="4988689" y="3522077"/>
              <a:ext cx="532435" cy="33379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FA238C-373E-6261-FF02-5503DC5B74E7}"/>
              </a:ext>
            </a:extLst>
          </p:cNvPr>
          <p:cNvGrpSpPr/>
          <p:nvPr/>
        </p:nvGrpSpPr>
        <p:grpSpPr>
          <a:xfrm>
            <a:off x="1238081" y="4219088"/>
            <a:ext cx="5021894" cy="696524"/>
            <a:chOff x="1193710" y="2769314"/>
            <a:chExt cx="5021894" cy="69652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5ED90C-BF45-E049-F467-299EE9D527F5}"/>
                </a:ext>
              </a:extLst>
            </p:cNvPr>
            <p:cNvSpPr txBox="1"/>
            <p:nvPr/>
          </p:nvSpPr>
          <p:spPr>
            <a:xfrm flipH="1">
              <a:off x="1193710" y="3065728"/>
              <a:ext cx="50218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Population of </a:t>
              </a:r>
              <a:r>
                <a:rPr lang="en-US" sz="2000" b="1" dirty="0">
                  <a:solidFill>
                    <a:srgbClr val="C00000"/>
                  </a:solidFill>
                </a:rPr>
                <a:t>minority</a:t>
              </a:r>
              <a:r>
                <a:rPr lang="en-US" sz="2000" dirty="0">
                  <a:solidFill>
                    <a:schemeClr val="bg1"/>
                  </a:solidFill>
                </a:rPr>
                <a:t> in 2005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BA6BEEC-9376-5E93-E497-54DF148257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78415" y="2769314"/>
              <a:ext cx="509286" cy="29641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D817CA-07CA-287F-3D5F-2518629D0B23}"/>
              </a:ext>
            </a:extLst>
          </p:cNvPr>
          <p:cNvGrpSpPr/>
          <p:nvPr/>
        </p:nvGrpSpPr>
        <p:grpSpPr>
          <a:xfrm>
            <a:off x="5256257" y="2509541"/>
            <a:ext cx="4708358" cy="1709547"/>
            <a:chOff x="5256257" y="2509541"/>
            <a:chExt cx="4708358" cy="170954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0FE3B4D-1AE5-C9DA-EC92-35BF11B264BC}"/>
                </a:ext>
              </a:extLst>
            </p:cNvPr>
            <p:cNvSpPr/>
            <p:nvPr/>
          </p:nvSpPr>
          <p:spPr>
            <a:xfrm>
              <a:off x="5256257" y="3429000"/>
              <a:ext cx="822960" cy="790088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E0C7669-D32A-4692-804C-B73598AB9B74}"/>
                </a:ext>
              </a:extLst>
            </p:cNvPr>
            <p:cNvGrpSpPr/>
            <p:nvPr/>
          </p:nvGrpSpPr>
          <p:grpSpPr>
            <a:xfrm>
              <a:off x="6112785" y="2509541"/>
              <a:ext cx="3851830" cy="926753"/>
              <a:chOff x="6112785" y="2509541"/>
              <a:chExt cx="3851830" cy="92675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42C94F-1C75-06CF-2A4B-29DE02639F66}"/>
                  </a:ext>
                </a:extLst>
              </p:cNvPr>
              <p:cNvSpPr txBox="1"/>
              <p:nvPr/>
            </p:nvSpPr>
            <p:spPr>
              <a:xfrm flipH="1">
                <a:off x="7045569" y="2509541"/>
                <a:ext cx="29190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sz="2000" dirty="0">
                    <a:solidFill>
                      <a:srgbClr val="3253DC"/>
                    </a:solidFill>
                  </a:rPr>
                  <a:t>Referral base for minority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CCBA30F-607D-22E3-0619-D77F41BA6BCB}"/>
                  </a:ext>
                </a:extLst>
              </p:cNvPr>
              <p:cNvCxnSpPr/>
              <p:nvPr/>
            </p:nvCxnSpPr>
            <p:spPr>
              <a:xfrm flipV="1">
                <a:off x="6112785" y="2787851"/>
                <a:ext cx="949569" cy="648443"/>
              </a:xfrm>
              <a:prstGeom prst="straightConnector1">
                <a:avLst/>
              </a:prstGeom>
              <a:ln w="25400">
                <a:solidFill>
                  <a:schemeClr val="accent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2480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8F3A71-3760-52D0-1E75-EEF733551A1D}"/>
              </a:ext>
            </a:extLst>
          </p:cNvPr>
          <p:cNvSpPr txBox="1"/>
          <p:nvPr/>
        </p:nvSpPr>
        <p:spPr>
          <a:xfrm>
            <a:off x="490975" y="439707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Empirical Design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D23F4E-4BCD-CDDB-C4AD-B5127C65E4FC}"/>
              </a:ext>
            </a:extLst>
          </p:cNvPr>
          <p:cNvGrpSpPr/>
          <p:nvPr/>
        </p:nvGrpSpPr>
        <p:grpSpPr>
          <a:xfrm>
            <a:off x="707010" y="1690688"/>
            <a:ext cx="8293496" cy="1166486"/>
            <a:chOff x="707010" y="1690688"/>
            <a:chExt cx="8293496" cy="116648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7FEBADE-E76D-671C-75DC-1B7974B75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355866" y="2537134"/>
              <a:ext cx="6644640" cy="3200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B3DD7A-B87D-3158-CC19-B623E8DB4AF9}"/>
                </a:ext>
              </a:extLst>
            </p:cNvPr>
            <p:cNvSpPr txBox="1"/>
            <p:nvPr/>
          </p:nvSpPr>
          <p:spPr>
            <a:xfrm>
              <a:off x="707010" y="1690688"/>
              <a:ext cx="53889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50000"/>
                    </a:schemeClr>
                  </a:solidFill>
                </a:rPr>
                <a:t>Dose-Response Difference-in-Differences Design: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1617C9-F609-7B2A-2226-250C8577B793}"/>
              </a:ext>
            </a:extLst>
          </p:cNvPr>
          <p:cNvGrpSpPr/>
          <p:nvPr/>
        </p:nvGrpSpPr>
        <p:grpSpPr>
          <a:xfrm>
            <a:off x="707010" y="3289720"/>
            <a:ext cx="10172370" cy="1422213"/>
            <a:chOff x="707010" y="1690688"/>
            <a:chExt cx="10172370" cy="1422213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7149DE6-BF8D-4B82-4CD2-29A9089CA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355866" y="2289941"/>
              <a:ext cx="8523514" cy="8229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8D081B-1B0B-2B06-5199-23D2E0C1B3C7}"/>
                </a:ext>
              </a:extLst>
            </p:cNvPr>
            <p:cNvSpPr txBox="1"/>
            <p:nvPr/>
          </p:nvSpPr>
          <p:spPr>
            <a:xfrm>
              <a:off x="707010" y="1690688"/>
              <a:ext cx="53889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50000"/>
                    </a:schemeClr>
                  </a:solidFill>
                </a:rPr>
                <a:t>Event-Study Design: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4F8B9F-3CC9-9D74-8F97-FEDAD3B74618}"/>
              </a:ext>
            </a:extLst>
          </p:cNvPr>
          <p:cNvSpPr txBox="1"/>
          <p:nvPr/>
        </p:nvSpPr>
        <p:spPr>
          <a:xfrm>
            <a:off x="707010" y="5015959"/>
            <a:ext cx="10917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We address the standard errors in two ways: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Huber-White robust standard errors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Cluster at disease level, wild-bootstrap cluster p-values and wild-bootstrap cluster 95% confidence intervals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859313B2-2AB8-E549-7B45-549D128D0C1A}"/>
              </a:ext>
            </a:extLst>
          </p:cNvPr>
          <p:cNvSpPr/>
          <p:nvPr/>
        </p:nvSpPr>
        <p:spPr>
          <a:xfrm>
            <a:off x="8830822" y="2017213"/>
            <a:ext cx="1925161" cy="399216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26668"/>
              <a:gd name="adj6" fmla="val -36874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Year fixed effects</a:t>
            </a:r>
          </a:p>
        </p:txBody>
      </p:sp>
      <p:sp>
        <p:nvSpPr>
          <p:cNvPr id="18" name="Callout: Bent Line with No Border 17">
            <a:extLst>
              <a:ext uri="{FF2B5EF4-FFF2-40B4-BE49-F238E27FC236}">
                <a16:creationId xmlns:a16="http://schemas.microsoft.com/office/drawing/2014/main" id="{ABA4E173-D19F-C695-1CA5-9FA99E730823}"/>
              </a:ext>
            </a:extLst>
          </p:cNvPr>
          <p:cNvSpPr/>
          <p:nvPr/>
        </p:nvSpPr>
        <p:spPr>
          <a:xfrm>
            <a:off x="8173039" y="1364374"/>
            <a:ext cx="2300140" cy="429671"/>
          </a:xfrm>
          <a:prstGeom prst="callout2">
            <a:avLst>
              <a:gd name="adj1" fmla="val 64823"/>
              <a:gd name="adj2" fmla="val -1190"/>
              <a:gd name="adj3" fmla="val 84568"/>
              <a:gd name="adj4" fmla="val -27263"/>
              <a:gd name="adj5" fmla="val 259496"/>
              <a:gd name="adj6" fmla="val -26932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Disease fixed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llout: Bent Line with No Border 14">
                <a:extLst>
                  <a:ext uri="{FF2B5EF4-FFF2-40B4-BE49-F238E27FC236}">
                    <a16:creationId xmlns:a16="http://schemas.microsoft.com/office/drawing/2014/main" id="{F5FD454E-43AD-407C-A7F6-BBDB05740C04}"/>
                  </a:ext>
                </a:extLst>
              </p:cNvPr>
              <p:cNvSpPr/>
              <p:nvPr/>
            </p:nvSpPr>
            <p:spPr>
              <a:xfrm>
                <a:off x="5185330" y="2999329"/>
                <a:ext cx="3149778" cy="429671"/>
              </a:xfrm>
              <a:prstGeom prst="callout2">
                <a:avLst>
                  <a:gd name="adj1" fmla="val 64823"/>
                  <a:gd name="adj2" fmla="val -1190"/>
                  <a:gd name="adj3" fmla="val 67028"/>
                  <a:gd name="adj4" fmla="val -13243"/>
                  <a:gd name="adj5" fmla="val -23476"/>
                  <a:gd name="adj6" fmla="val -32144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𝜻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&gt; 0 </a:t>
                </a:r>
                <a:r>
                  <a:rPr lang="en-US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 Positive policy impact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Callout: Bent Line with No Border 14">
                <a:extLst>
                  <a:ext uri="{FF2B5EF4-FFF2-40B4-BE49-F238E27FC236}">
                    <a16:creationId xmlns:a16="http://schemas.microsoft.com/office/drawing/2014/main" id="{F5FD454E-43AD-407C-A7F6-BBDB05740C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330" y="2999329"/>
                <a:ext cx="3149778" cy="429671"/>
              </a:xfrm>
              <a:prstGeom prst="callout2">
                <a:avLst>
                  <a:gd name="adj1" fmla="val 64823"/>
                  <a:gd name="adj2" fmla="val -1190"/>
                  <a:gd name="adj3" fmla="val 67028"/>
                  <a:gd name="adj4" fmla="val -13243"/>
                  <a:gd name="adj5" fmla="val -23476"/>
                  <a:gd name="adj6" fmla="val -32144"/>
                </a:avLst>
              </a:prstGeom>
              <a:blipFill>
                <a:blip r:embed="rId6"/>
                <a:stretch>
                  <a:fillRect b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B939442-EC7E-6B71-1B1E-9521776E83F6}"/>
              </a:ext>
            </a:extLst>
          </p:cNvPr>
          <p:cNvGrpSpPr/>
          <p:nvPr/>
        </p:nvGrpSpPr>
        <p:grpSpPr>
          <a:xfrm>
            <a:off x="4806462" y="4003964"/>
            <a:ext cx="3786553" cy="1053629"/>
            <a:chOff x="4806462" y="4003964"/>
            <a:chExt cx="3786553" cy="1053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llout: Bent Line with No Border 15">
                  <a:extLst>
                    <a:ext uri="{FF2B5EF4-FFF2-40B4-BE49-F238E27FC236}">
                      <a16:creationId xmlns:a16="http://schemas.microsoft.com/office/drawing/2014/main" id="{86DB359D-8233-B5C5-2639-6CBA7DE16584}"/>
                    </a:ext>
                  </a:extLst>
                </p:cNvPr>
                <p:cNvSpPr/>
                <p:nvPr/>
              </p:nvSpPr>
              <p:spPr>
                <a:xfrm>
                  <a:off x="6096000" y="4627922"/>
                  <a:ext cx="2497015" cy="429671"/>
                </a:xfrm>
                <a:prstGeom prst="callout2">
                  <a:avLst>
                    <a:gd name="adj1" fmla="val 64823"/>
                    <a:gd name="adj2" fmla="val -1190"/>
                    <a:gd name="adj3" fmla="val 67028"/>
                    <a:gd name="adj4" fmla="val -13243"/>
                    <a:gd name="adj5" fmla="val -23476"/>
                    <a:gd name="adj6" fmla="val -32144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rgbClr val="C00000"/>
                      </a:solidFill>
                      <a:ea typeface="Cambria Math" panose="02040503050406030204" pitchFamily="18" charset="0"/>
                    </a:rPr>
                    <a:t>Plot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𝜻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rgbClr val="C00000"/>
                      </a:solidFill>
                    </a:rPr>
                    <a:t> in figures</a:t>
                  </a:r>
                </a:p>
              </p:txBody>
            </p:sp>
          </mc:Choice>
          <mc:Fallback xmlns="">
            <p:sp>
              <p:nvSpPr>
                <p:cNvPr id="16" name="Callout: Bent Line with No Border 15">
                  <a:extLst>
                    <a:ext uri="{FF2B5EF4-FFF2-40B4-BE49-F238E27FC236}">
                      <a16:creationId xmlns:a16="http://schemas.microsoft.com/office/drawing/2014/main" id="{86DB359D-8233-B5C5-2639-6CBA7DE165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627922"/>
                  <a:ext cx="2497015" cy="429671"/>
                </a:xfrm>
                <a:prstGeom prst="callout2">
                  <a:avLst>
                    <a:gd name="adj1" fmla="val 64823"/>
                    <a:gd name="adj2" fmla="val -1190"/>
                    <a:gd name="adj3" fmla="val 67028"/>
                    <a:gd name="adj4" fmla="val -13243"/>
                    <a:gd name="adj5" fmla="val -23476"/>
                    <a:gd name="adj6" fmla="val -32144"/>
                  </a:avLst>
                </a:prstGeom>
                <a:blipFill>
                  <a:blip r:embed="rId7"/>
                  <a:stretch>
                    <a:fillRect b="-101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A6D563-48EB-957F-AF78-D78F53525310}"/>
                </a:ext>
              </a:extLst>
            </p:cNvPr>
            <p:cNvSpPr/>
            <p:nvPr/>
          </p:nvSpPr>
          <p:spPr>
            <a:xfrm>
              <a:off x="4806462" y="4003964"/>
              <a:ext cx="378868" cy="468469"/>
            </a:xfrm>
            <a:prstGeom prst="rect">
              <a:avLst/>
            </a:prstGeom>
            <a:solidFill>
              <a:schemeClr val="tx1">
                <a:alpha val="0"/>
              </a:schemeClr>
            </a:solidFill>
            <a:ln w="25400">
              <a:solidFill>
                <a:srgbClr val="3253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1772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741488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/>
                  </a:solidFill>
                </a:rPr>
                <a:t>1. Does ARRA-NIH grant expansion contribute to increasing inclusion of minority subjects in GWAS?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0AAAC490-2BB7-E897-11DA-B68FDD230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080" y="1467463"/>
            <a:ext cx="4936418" cy="4114800"/>
          </a:xfrm>
          <a:prstGeom prst="rect">
            <a:avLst/>
          </a:prstGeom>
        </p:spPr>
      </p:pic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C6AF434C-C700-A5A9-0B19-F5BD391284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67463"/>
            <a:ext cx="493641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83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741488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1. Does ARRA-NIH grant expansion contribute to increasing inclusion of minority subjects in GWAS?</a:t>
              </a: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449C081-DE47-36A0-1F62-89FB3AAEE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541" y="2526799"/>
            <a:ext cx="5486400" cy="41148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E44D16D-8836-D682-5C03-072EF5DABF13}"/>
              </a:ext>
            </a:extLst>
          </p:cNvPr>
          <p:cNvGrpSpPr/>
          <p:nvPr/>
        </p:nvGrpSpPr>
        <p:grpSpPr>
          <a:xfrm>
            <a:off x="5649508" y="2640609"/>
            <a:ext cx="2686638" cy="1395167"/>
            <a:chOff x="5533534" y="2941163"/>
            <a:chExt cx="2686638" cy="139516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6F4C95-E819-ED7F-69FC-4CD6CA900543}"/>
                </a:ext>
              </a:extLst>
            </p:cNvPr>
            <p:cNvSpPr txBox="1"/>
            <p:nvPr/>
          </p:nvSpPr>
          <p:spPr>
            <a:xfrm>
              <a:off x="5769203" y="2941163"/>
              <a:ext cx="24509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 substantial jump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379A581-7009-2D4D-81DF-8D458C399826}"/>
                </a:ext>
              </a:extLst>
            </p:cNvPr>
            <p:cNvCxnSpPr/>
            <p:nvPr/>
          </p:nvCxnSpPr>
          <p:spPr>
            <a:xfrm flipH="1">
              <a:off x="5533534" y="3429000"/>
              <a:ext cx="562466" cy="9073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BC0486-B2E6-E1DB-C72B-BC34FC3A557D}"/>
              </a:ext>
            </a:extLst>
          </p:cNvPr>
          <p:cNvGrpSpPr/>
          <p:nvPr/>
        </p:nvGrpSpPr>
        <p:grpSpPr>
          <a:xfrm>
            <a:off x="599789" y="4863044"/>
            <a:ext cx="3630262" cy="707886"/>
            <a:chOff x="640080" y="3808429"/>
            <a:chExt cx="3630262" cy="707886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772A633-B7DF-69ED-8586-CF90AA3FF992}"/>
                </a:ext>
              </a:extLst>
            </p:cNvPr>
            <p:cNvCxnSpPr/>
            <p:nvPr/>
          </p:nvCxnSpPr>
          <p:spPr>
            <a:xfrm flipV="1">
              <a:off x="3148553" y="3831996"/>
              <a:ext cx="1121789" cy="40116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A3FABCD-C1A6-64A7-DB69-18D0EE16E9AF}"/>
                </a:ext>
              </a:extLst>
            </p:cNvPr>
            <p:cNvSpPr txBox="1"/>
            <p:nvPr/>
          </p:nvSpPr>
          <p:spPr>
            <a:xfrm>
              <a:off x="640080" y="3808429"/>
              <a:ext cx="30448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No significant pre-existing trends 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FBAE68-F834-B0FE-A2FD-4DFAB51ABF6C}"/>
              </a:ext>
            </a:extLst>
          </p:cNvPr>
          <p:cNvGrpSpPr/>
          <p:nvPr/>
        </p:nvGrpSpPr>
        <p:grpSpPr>
          <a:xfrm>
            <a:off x="8424979" y="4683935"/>
            <a:ext cx="3289955" cy="1311728"/>
            <a:chOff x="8465270" y="3629320"/>
            <a:chExt cx="3289955" cy="131172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8F99991-0FFD-B7DA-EFBB-BAFA35D44BD4}"/>
                </a:ext>
              </a:extLst>
            </p:cNvPr>
            <p:cNvCxnSpPr/>
            <p:nvPr/>
          </p:nvCxnSpPr>
          <p:spPr>
            <a:xfrm flipH="1" flipV="1">
              <a:off x="8465270" y="3629320"/>
              <a:ext cx="716437" cy="791851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073369-F8F5-2FDF-B367-379E043702BF}"/>
                </a:ext>
              </a:extLst>
            </p:cNvPr>
            <p:cNvSpPr txBox="1"/>
            <p:nvPr/>
          </p:nvSpPr>
          <p:spPr>
            <a:xfrm>
              <a:off x="9257122" y="4233162"/>
              <a:ext cx="24981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Policy effect persisted though 2016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7E0807A-09A1-E41E-7724-AE4D44E0389A}"/>
              </a:ext>
            </a:extLst>
          </p:cNvPr>
          <p:cNvSpPr txBox="1"/>
          <p:nvPr/>
        </p:nvSpPr>
        <p:spPr>
          <a:xfrm>
            <a:off x="4889928" y="2289526"/>
            <a:ext cx="2516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Event Study Estimates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DC751-0335-28B0-2664-3CADD64EC676}"/>
              </a:ext>
            </a:extLst>
          </p:cNvPr>
          <p:cNvSpPr txBox="1"/>
          <p:nvPr/>
        </p:nvSpPr>
        <p:spPr>
          <a:xfrm>
            <a:off x="1047435" y="1589997"/>
            <a:ext cx="5048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Dependent Var: </a:t>
            </a:r>
            <a:r>
              <a:rPr lang="en-US" sz="2000" dirty="0">
                <a:solidFill>
                  <a:schemeClr val="bg1"/>
                </a:solidFill>
              </a:rPr>
              <a:t>Share of minority subjects</a:t>
            </a:r>
          </a:p>
        </p:txBody>
      </p:sp>
    </p:spTree>
    <p:extLst>
      <p:ext uri="{BB962C8B-B14F-4D97-AF65-F5344CB8AC3E}">
        <p14:creationId xmlns:p14="http://schemas.microsoft.com/office/powerpoint/2010/main" val="427532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741488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/>
                  </a:solidFill>
                </a:rPr>
                <a:t>2. How the ARRA-NIH grant expansion influences entry of minority scientists and scientific collaborations?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79A30A1-59E6-6D8E-4F2D-EDA505932B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0316" y="2382153"/>
            <a:ext cx="4935945" cy="411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CB0758-F382-A87E-DA1D-F12BAF9C72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572722"/>
            <a:ext cx="4936418" cy="370231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68598D2-C67A-9A21-0C8A-B0D3EFB6D0FC}"/>
              </a:ext>
            </a:extLst>
          </p:cNvPr>
          <p:cNvGrpSpPr/>
          <p:nvPr/>
        </p:nvGrpSpPr>
        <p:grpSpPr>
          <a:xfrm>
            <a:off x="8126219" y="2651906"/>
            <a:ext cx="2686638" cy="1395167"/>
            <a:chOff x="5533534" y="2941163"/>
            <a:chExt cx="2686638" cy="139516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F05E40-2245-600A-37B5-17F768CD046E}"/>
                </a:ext>
              </a:extLst>
            </p:cNvPr>
            <p:cNvSpPr txBox="1"/>
            <p:nvPr/>
          </p:nvSpPr>
          <p:spPr>
            <a:xfrm>
              <a:off x="5769203" y="2941163"/>
              <a:ext cx="24509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 substantial jump 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8567437-3261-D0F8-DA52-71144FF5328F}"/>
                </a:ext>
              </a:extLst>
            </p:cNvPr>
            <p:cNvCxnSpPr/>
            <p:nvPr/>
          </p:nvCxnSpPr>
          <p:spPr>
            <a:xfrm flipH="1">
              <a:off x="5533534" y="3429000"/>
              <a:ext cx="562466" cy="9073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F1A2BA-36A6-DACB-86E1-989FF8117735}"/>
              </a:ext>
            </a:extLst>
          </p:cNvPr>
          <p:cNvGrpSpPr/>
          <p:nvPr/>
        </p:nvGrpSpPr>
        <p:grpSpPr>
          <a:xfrm>
            <a:off x="5400616" y="4924261"/>
            <a:ext cx="3044857" cy="1766919"/>
            <a:chOff x="640080" y="2749396"/>
            <a:chExt cx="3044857" cy="176691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E074E40-1E76-01DF-B8E8-DB2E7945EE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1613" y="2749396"/>
              <a:ext cx="560895" cy="91581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106030-801C-3A49-D7D8-33CEED1C13F8}"/>
                </a:ext>
              </a:extLst>
            </p:cNvPr>
            <p:cNvSpPr txBox="1"/>
            <p:nvPr/>
          </p:nvSpPr>
          <p:spPr>
            <a:xfrm>
              <a:off x="640080" y="3808429"/>
              <a:ext cx="30448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No significant pre-existing trends 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D3B4490-C82D-4E72-4966-C90A9683FB3B}"/>
              </a:ext>
            </a:extLst>
          </p:cNvPr>
          <p:cNvSpPr txBox="1"/>
          <p:nvPr/>
        </p:nvSpPr>
        <p:spPr>
          <a:xfrm>
            <a:off x="7522590" y="2057891"/>
            <a:ext cx="2516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Event Study Estimates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0CE8EF-5F63-2E72-9EDE-7ED952CFD7D1}"/>
              </a:ext>
            </a:extLst>
          </p:cNvPr>
          <p:cNvSpPr txBox="1"/>
          <p:nvPr/>
        </p:nvSpPr>
        <p:spPr>
          <a:xfrm>
            <a:off x="1047435" y="1591056"/>
            <a:ext cx="5048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Dependent Var: </a:t>
            </a:r>
            <a:r>
              <a:rPr lang="en-US" sz="2000" dirty="0">
                <a:solidFill>
                  <a:schemeClr val="bg1"/>
                </a:solidFill>
              </a:rPr>
              <a:t>Share of minority authors</a:t>
            </a:r>
          </a:p>
        </p:txBody>
      </p:sp>
    </p:spTree>
    <p:extLst>
      <p:ext uri="{BB962C8B-B14F-4D97-AF65-F5344CB8AC3E}">
        <p14:creationId xmlns:p14="http://schemas.microsoft.com/office/powerpoint/2010/main" val="124511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741488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2. How the ARRA-NIH grant expansion influences entry of minority scientists and scientific collaborations?</a:t>
              </a: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BCDFBAC-78F9-6BB6-C0A2-EEBE9723C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44" y="1744917"/>
            <a:ext cx="10866844" cy="36576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B2A476-2597-0C32-65AF-E736241008EE}"/>
              </a:ext>
            </a:extLst>
          </p:cNvPr>
          <p:cNvSpPr/>
          <p:nvPr/>
        </p:nvSpPr>
        <p:spPr>
          <a:xfrm>
            <a:off x="3610466" y="3242821"/>
            <a:ext cx="3553905" cy="377072"/>
          </a:xfrm>
          <a:prstGeom prst="roundRect">
            <a:avLst/>
          </a:prstGeom>
          <a:solidFill>
            <a:schemeClr val="tx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910D674-0A5F-B7D7-3C9B-67A31B3FAE0F}"/>
              </a:ext>
            </a:extLst>
          </p:cNvPr>
          <p:cNvSpPr/>
          <p:nvPr/>
        </p:nvSpPr>
        <p:spPr>
          <a:xfrm>
            <a:off x="7559127" y="3244393"/>
            <a:ext cx="3553905" cy="377072"/>
          </a:xfrm>
          <a:prstGeom prst="roundRect">
            <a:avLst/>
          </a:prstGeom>
          <a:solidFill>
            <a:schemeClr val="tx1">
              <a:alpha val="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BA009E-C0B0-F0FF-AF64-AAEB97945776}"/>
              </a:ext>
            </a:extLst>
          </p:cNvPr>
          <p:cNvGrpSpPr/>
          <p:nvPr/>
        </p:nvGrpSpPr>
        <p:grpSpPr>
          <a:xfrm>
            <a:off x="1331407" y="3687745"/>
            <a:ext cx="10163907" cy="2384660"/>
            <a:chOff x="1331407" y="3687745"/>
            <a:chExt cx="10163907" cy="23846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D46230C-D202-2F7E-3EEE-D59FA107FC80}"/>
                </a:ext>
              </a:extLst>
            </p:cNvPr>
            <p:cNvSpPr txBox="1"/>
            <p:nvPr/>
          </p:nvSpPr>
          <p:spPr>
            <a:xfrm>
              <a:off x="1331407" y="5672295"/>
              <a:ext cx="101639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C00000"/>
                  </a:solidFill>
                </a:rPr>
                <a:t>ARRA Grant expansion increases the likelihood of minority scientist serving as first few authors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18A3715-A56A-F7E1-A7AB-D3A0EE7C65F2}"/>
                </a:ext>
              </a:extLst>
            </p:cNvPr>
            <p:cNvCxnSpPr/>
            <p:nvPr/>
          </p:nvCxnSpPr>
          <p:spPr>
            <a:xfrm flipH="1">
              <a:off x="4551903" y="3687745"/>
              <a:ext cx="311499" cy="189913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6882FD-29AD-8A5B-68E5-DEAF37E8E599}"/>
              </a:ext>
            </a:extLst>
          </p:cNvPr>
          <p:cNvGrpSpPr/>
          <p:nvPr/>
        </p:nvGrpSpPr>
        <p:grpSpPr>
          <a:xfrm>
            <a:off x="7444154" y="1301070"/>
            <a:ext cx="4051161" cy="1869185"/>
            <a:chOff x="7444154" y="1301070"/>
            <a:chExt cx="4051161" cy="186918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CADC73A-2085-1D20-60D6-05AE54560D94}"/>
                </a:ext>
              </a:extLst>
            </p:cNvPr>
            <p:cNvCxnSpPr/>
            <p:nvPr/>
          </p:nvCxnSpPr>
          <p:spPr>
            <a:xfrm flipV="1">
              <a:off x="9624646" y="2004646"/>
              <a:ext cx="339969" cy="1165609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E644AF-70A6-CF22-356A-F45010D005CE}"/>
                </a:ext>
              </a:extLst>
            </p:cNvPr>
            <p:cNvSpPr txBox="1"/>
            <p:nvPr/>
          </p:nvSpPr>
          <p:spPr>
            <a:xfrm>
              <a:off x="7444154" y="1301070"/>
              <a:ext cx="405116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50000"/>
                    </a:schemeClr>
                  </a:solidFill>
                </a:rPr>
                <a:t>No significant effect on promoting minority scientists as PIs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283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741488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/>
                  </a:solidFill>
                </a:rPr>
                <a:t>3. Whether ARRA-NIH grant expansion also fosters a wealth of scientific fruits from minority populations?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C415779-8172-4A40-4411-B3DF628EB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378075"/>
            <a:ext cx="5486400" cy="41148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84890D4-4991-ADF1-5BAD-207705EB2CD6}"/>
              </a:ext>
            </a:extLst>
          </p:cNvPr>
          <p:cNvGrpSpPr/>
          <p:nvPr/>
        </p:nvGrpSpPr>
        <p:grpSpPr>
          <a:xfrm>
            <a:off x="6200976" y="2837303"/>
            <a:ext cx="3336775" cy="1395167"/>
            <a:chOff x="5533534" y="2941163"/>
            <a:chExt cx="3336775" cy="139516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39FEEEC-F3D3-6D34-1D5B-EA10120F994C}"/>
                </a:ext>
              </a:extLst>
            </p:cNvPr>
            <p:cNvSpPr txBox="1"/>
            <p:nvPr/>
          </p:nvSpPr>
          <p:spPr>
            <a:xfrm>
              <a:off x="5769203" y="2941163"/>
              <a:ext cx="31011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 substantial jump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14E0DEB-42C0-7373-C2B4-4F30D7A8A365}"/>
                </a:ext>
              </a:extLst>
            </p:cNvPr>
            <p:cNvCxnSpPr/>
            <p:nvPr/>
          </p:nvCxnSpPr>
          <p:spPr>
            <a:xfrm flipH="1">
              <a:off x="5533534" y="3429000"/>
              <a:ext cx="562466" cy="9073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FD7EA3-0341-A3C1-D96D-70746E4746D5}"/>
              </a:ext>
            </a:extLst>
          </p:cNvPr>
          <p:cNvSpPr txBox="1"/>
          <p:nvPr/>
        </p:nvSpPr>
        <p:spPr>
          <a:xfrm>
            <a:off x="4883399" y="2063244"/>
            <a:ext cx="2516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Event Study Estimates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DE4CF-6020-4496-2D6D-43DEBC0EBECB}"/>
              </a:ext>
            </a:extLst>
          </p:cNvPr>
          <p:cNvSpPr txBox="1"/>
          <p:nvPr/>
        </p:nvSpPr>
        <p:spPr>
          <a:xfrm>
            <a:off x="1047435" y="1591056"/>
            <a:ext cx="6767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Dependent Var: </a:t>
            </a:r>
            <a:r>
              <a:rPr lang="en-US" sz="2000" dirty="0">
                <a:solidFill>
                  <a:schemeClr val="bg1"/>
                </a:solidFill>
              </a:rPr>
              <a:t>Share of minority-based genetic discovery</a:t>
            </a:r>
          </a:p>
        </p:txBody>
      </p:sp>
    </p:spTree>
    <p:extLst>
      <p:ext uri="{BB962C8B-B14F-4D97-AF65-F5344CB8AC3E}">
        <p14:creationId xmlns:p14="http://schemas.microsoft.com/office/powerpoint/2010/main" val="14047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9797FE-61AC-AF8D-29D1-B7EDE7A6D8B7}"/>
              </a:ext>
            </a:extLst>
          </p:cNvPr>
          <p:cNvGrpSpPr/>
          <p:nvPr/>
        </p:nvGrpSpPr>
        <p:grpSpPr>
          <a:xfrm>
            <a:off x="457200" y="457200"/>
            <a:ext cx="10729274" cy="640080"/>
            <a:chOff x="1016524" y="1741488"/>
            <a:chExt cx="10729274" cy="64008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6604" y="1741488"/>
              <a:ext cx="100891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>
                  <a:solidFill>
                    <a:schemeClr val="bg1"/>
                  </a:solidFill>
                  <a:latin typeface="Calibri" panose="020F0502020204030204"/>
                </a:rPr>
                <a:t>Results Summary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6524" y="1741488"/>
              <a:ext cx="640080" cy="64008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4D760C2-F3FD-3494-6D26-995341D04A81}"/>
              </a:ext>
            </a:extLst>
          </p:cNvPr>
          <p:cNvGrpSpPr/>
          <p:nvPr/>
        </p:nvGrpSpPr>
        <p:grpSpPr>
          <a:xfrm>
            <a:off x="595162" y="1343829"/>
            <a:ext cx="11001676" cy="1888969"/>
            <a:chOff x="595162" y="1343829"/>
            <a:chExt cx="11001676" cy="188896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3EA8FDB-41D0-BC7C-9606-8142F4C74E4F}"/>
                </a:ext>
              </a:extLst>
            </p:cNvPr>
            <p:cNvGrpSpPr/>
            <p:nvPr/>
          </p:nvGrpSpPr>
          <p:grpSpPr>
            <a:xfrm>
              <a:off x="839788" y="1343829"/>
              <a:ext cx="10512424" cy="1631216"/>
              <a:chOff x="839788" y="1343829"/>
              <a:chExt cx="10512424" cy="163121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B50E6D-67E6-571F-C63D-D56950EFD426}"/>
                  </a:ext>
                </a:extLst>
              </p:cNvPr>
              <p:cNvSpPr txBox="1"/>
              <p:nvPr/>
            </p:nvSpPr>
            <p:spPr>
              <a:xfrm>
                <a:off x="3938419" y="1343829"/>
                <a:ext cx="7413793" cy="1631216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square" rtlCol="0">
                <a:sp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2000" dirty="0">
                    <a:solidFill>
                      <a:schemeClr val="bg1"/>
                    </a:solidFill>
                  </a:rPr>
                  <a:t>The grant expansion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endParaRPr lang="en-US" sz="2000" dirty="0">
                  <a:solidFill>
                    <a:schemeClr val="bg1"/>
                  </a:solidFill>
                </a:endParaRP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solidFill>
                      <a:schemeClr val="bg1"/>
                    </a:solidFill>
                  </a:rPr>
                  <a:t>increases the inclusion of minority subjects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solidFill>
                      <a:schemeClr val="bg1"/>
                    </a:solidFill>
                  </a:rPr>
                  <a:t>facilitates the academic engagement of minority scientists</a:t>
                </a:r>
              </a:p>
              <a:p>
                <a:pPr marL="742950" lvl="1" indent="-28575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solidFill>
                      <a:schemeClr val="bg1"/>
                    </a:solidFill>
                  </a:rPr>
                  <a:t>boosts the genetic discoveries from minority ancestries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73DDE2-23E9-5B4B-C081-7B05CA73DCA3}"/>
                  </a:ext>
                </a:extLst>
              </p:cNvPr>
              <p:cNvSpPr txBox="1"/>
              <p:nvPr/>
            </p:nvSpPr>
            <p:spPr>
              <a:xfrm>
                <a:off x="839788" y="1831604"/>
                <a:ext cx="20886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Key Takeaways</a:t>
                </a:r>
              </a:p>
            </p:txBody>
          </p: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917F0F-E811-7A6B-DCD9-E8379672BF49}"/>
                </a:ext>
              </a:extLst>
            </p:cNvPr>
            <p:cNvCxnSpPr>
              <a:cxnSpLocks/>
            </p:cNvCxnSpPr>
            <p:nvPr/>
          </p:nvCxnSpPr>
          <p:spPr>
            <a:xfrm>
              <a:off x="595162" y="3232798"/>
              <a:ext cx="11001676" cy="0"/>
            </a:xfrm>
            <a:prstGeom prst="line">
              <a:avLst/>
            </a:prstGeom>
            <a:ln w="19050">
              <a:solidFill>
                <a:schemeClr val="tx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60DBB8-009D-E2A0-E169-9E6B20AED522}"/>
              </a:ext>
            </a:extLst>
          </p:cNvPr>
          <p:cNvGrpSpPr/>
          <p:nvPr/>
        </p:nvGrpSpPr>
        <p:grpSpPr>
          <a:xfrm>
            <a:off x="3887564" y="4317709"/>
            <a:ext cx="4416872" cy="914400"/>
            <a:chOff x="3058584" y="4550280"/>
            <a:chExt cx="4416872" cy="914400"/>
          </a:xfrm>
        </p:grpSpPr>
        <p:pic>
          <p:nvPicPr>
            <p:cNvPr id="5" name="Graphic 4" descr="Target with solid fill">
              <a:extLst>
                <a:ext uri="{FF2B5EF4-FFF2-40B4-BE49-F238E27FC236}">
                  <a16:creationId xmlns:a16="http://schemas.microsoft.com/office/drawing/2014/main" id="{DDE5C383-1DF9-1CCE-273C-1CA3520A8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58584" y="455028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C98DB0-EE3E-3426-7711-8BE959EE45E5}"/>
                </a:ext>
              </a:extLst>
            </p:cNvPr>
            <p:cNvSpPr txBox="1"/>
            <p:nvPr/>
          </p:nvSpPr>
          <p:spPr>
            <a:xfrm>
              <a:off x="4298623" y="4774909"/>
              <a:ext cx="3176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Policy Implications?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919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60DBB8-009D-E2A0-E169-9E6B20AED522}"/>
              </a:ext>
            </a:extLst>
          </p:cNvPr>
          <p:cNvGrpSpPr/>
          <p:nvPr/>
        </p:nvGrpSpPr>
        <p:grpSpPr>
          <a:xfrm>
            <a:off x="457200" y="457200"/>
            <a:ext cx="11485966" cy="914400"/>
            <a:chOff x="3058584" y="4550280"/>
            <a:chExt cx="11485966" cy="914400"/>
          </a:xfrm>
        </p:grpSpPr>
        <p:pic>
          <p:nvPicPr>
            <p:cNvPr id="5" name="Graphic 4" descr="Target with solid fill">
              <a:extLst>
                <a:ext uri="{FF2B5EF4-FFF2-40B4-BE49-F238E27FC236}">
                  <a16:creationId xmlns:a16="http://schemas.microsoft.com/office/drawing/2014/main" id="{DDE5C383-1DF9-1CCE-273C-1CA3520A8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58584" y="455028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C98DB0-EE3E-3426-7711-8BE959EE45E5}"/>
                </a:ext>
              </a:extLst>
            </p:cNvPr>
            <p:cNvSpPr txBox="1"/>
            <p:nvPr/>
          </p:nvSpPr>
          <p:spPr>
            <a:xfrm>
              <a:off x="4028950" y="4776647"/>
              <a:ext cx="1051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Policy Implications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F3BD448-0068-5E29-E8EC-B285449F20D5}"/>
              </a:ext>
            </a:extLst>
          </p:cNvPr>
          <p:cNvSpPr txBox="1"/>
          <p:nvPr/>
        </p:nvSpPr>
        <p:spPr>
          <a:xfrm>
            <a:off x="669303" y="1480007"/>
            <a:ext cx="44795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The NIH has initiated a variety of funding opportunities to support science on underrepresented populations in recent years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”</a:t>
            </a:r>
            <a:r>
              <a:rPr lang="en-US" dirty="0">
                <a:solidFill>
                  <a:srgbClr val="C00000"/>
                </a:solidFill>
              </a:rPr>
              <a:t>All of Us</a:t>
            </a:r>
            <a:r>
              <a:rPr lang="en-US" dirty="0">
                <a:solidFill>
                  <a:schemeClr val="bg1"/>
                </a:solidFill>
              </a:rPr>
              <a:t>” research program in 2015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We are among the few that quantitatively assess how public funding policy addresses the missing diversity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E0F78E3-BA37-3DCA-C546-DD7857BD03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895284"/>
              </p:ext>
            </p:extLst>
          </p:nvPr>
        </p:nvGraphicFramePr>
        <p:xfrm>
          <a:off x="5618376" y="768095"/>
          <a:ext cx="5267489" cy="465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88398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60DBB8-009D-E2A0-E169-9E6B20AED522}"/>
              </a:ext>
            </a:extLst>
          </p:cNvPr>
          <p:cNvGrpSpPr/>
          <p:nvPr/>
        </p:nvGrpSpPr>
        <p:grpSpPr>
          <a:xfrm>
            <a:off x="457200" y="457200"/>
            <a:ext cx="11485966" cy="914400"/>
            <a:chOff x="3058584" y="4550280"/>
            <a:chExt cx="11485966" cy="914400"/>
          </a:xfrm>
        </p:grpSpPr>
        <p:pic>
          <p:nvPicPr>
            <p:cNvPr id="5" name="Graphic 4" descr="Target with solid fill">
              <a:extLst>
                <a:ext uri="{FF2B5EF4-FFF2-40B4-BE49-F238E27FC236}">
                  <a16:creationId xmlns:a16="http://schemas.microsoft.com/office/drawing/2014/main" id="{DDE5C383-1DF9-1CCE-273C-1CA3520A8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58584" y="455028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C98DB0-EE3E-3426-7711-8BE959EE45E5}"/>
                </a:ext>
              </a:extLst>
            </p:cNvPr>
            <p:cNvSpPr txBox="1"/>
            <p:nvPr/>
          </p:nvSpPr>
          <p:spPr>
            <a:xfrm>
              <a:off x="4028950" y="4776647"/>
              <a:ext cx="1051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Policy Implications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F3BD448-0068-5E29-E8EC-B285449F20D5}"/>
              </a:ext>
            </a:extLst>
          </p:cNvPr>
          <p:cNvSpPr txBox="1"/>
          <p:nvPr/>
        </p:nvSpPr>
        <p:spPr>
          <a:xfrm>
            <a:off x="704473" y="2031792"/>
            <a:ext cx="4845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sz="2000" dirty="0">
                <a:solidFill>
                  <a:schemeClr val="bg1"/>
                </a:solidFill>
              </a:rPr>
              <a:t>Our paper also advocates </a:t>
            </a:r>
            <a:r>
              <a:rPr lang="en-US" sz="2000" dirty="0">
                <a:solidFill>
                  <a:srgbClr val="C00000"/>
                </a:solidFill>
              </a:rPr>
              <a:t>an inclusive evaluation system</a:t>
            </a:r>
            <a:r>
              <a:rPr lang="en-US" sz="2000" dirty="0">
                <a:solidFill>
                  <a:schemeClr val="bg1"/>
                </a:solidFill>
              </a:rPr>
              <a:t> to reflect faculties’ scientific efforts in promoting minority community engagement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C0FFB6A2-C2C4-4912-2E7B-24B7FB472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794" y="1171066"/>
            <a:ext cx="565586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1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860DBB8-009D-E2A0-E169-9E6B20AED522}"/>
              </a:ext>
            </a:extLst>
          </p:cNvPr>
          <p:cNvGrpSpPr/>
          <p:nvPr/>
        </p:nvGrpSpPr>
        <p:grpSpPr>
          <a:xfrm>
            <a:off x="457200" y="457200"/>
            <a:ext cx="11485966" cy="914400"/>
            <a:chOff x="3058584" y="4550280"/>
            <a:chExt cx="11485966" cy="914400"/>
          </a:xfrm>
        </p:grpSpPr>
        <p:pic>
          <p:nvPicPr>
            <p:cNvPr id="5" name="Graphic 4" descr="Target with solid fill">
              <a:extLst>
                <a:ext uri="{FF2B5EF4-FFF2-40B4-BE49-F238E27FC236}">
                  <a16:creationId xmlns:a16="http://schemas.microsoft.com/office/drawing/2014/main" id="{DDE5C383-1DF9-1CCE-273C-1CA3520A8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58584" y="4550280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C98DB0-EE3E-3426-7711-8BE959EE45E5}"/>
                </a:ext>
              </a:extLst>
            </p:cNvPr>
            <p:cNvSpPr txBox="1"/>
            <p:nvPr/>
          </p:nvSpPr>
          <p:spPr>
            <a:xfrm>
              <a:off x="4028950" y="4776647"/>
              <a:ext cx="10515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Policy Implications</a:t>
              </a:r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32F0CC4-631E-D515-E1A0-743EB8FF7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6278260"/>
              </p:ext>
            </p:extLst>
          </p:nvPr>
        </p:nvGraphicFramePr>
        <p:xfrm>
          <a:off x="2126330" y="10607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5F939F88-4404-D800-E3DC-A682CA53342F}"/>
              </a:ext>
            </a:extLst>
          </p:cNvPr>
          <p:cNvSpPr/>
          <p:nvPr/>
        </p:nvSpPr>
        <p:spPr>
          <a:xfrm>
            <a:off x="4940826" y="5604040"/>
            <a:ext cx="791851" cy="38649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F71F8-7AC9-265A-3441-1C0C5EE85156}"/>
              </a:ext>
            </a:extLst>
          </p:cNvPr>
          <p:cNvSpPr txBox="1"/>
          <p:nvPr/>
        </p:nvSpPr>
        <p:spPr>
          <a:xfrm>
            <a:off x="2659162" y="5297864"/>
            <a:ext cx="1978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Public support can be a driving force </a:t>
            </a:r>
          </a:p>
        </p:txBody>
      </p:sp>
    </p:spTree>
    <p:extLst>
      <p:ext uri="{BB962C8B-B14F-4D97-AF65-F5344CB8AC3E}">
        <p14:creationId xmlns:p14="http://schemas.microsoft.com/office/powerpoint/2010/main" val="1239956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F71F8-7AC9-265A-3441-1C0C5EE85156}"/>
              </a:ext>
            </a:extLst>
          </p:cNvPr>
          <p:cNvSpPr txBox="1"/>
          <p:nvPr/>
        </p:nvSpPr>
        <p:spPr>
          <a:xfrm>
            <a:off x="4592826" y="3013501"/>
            <a:ext cx="3006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prstClr val="black"/>
                </a:solidFill>
                <a:latin typeface="Calibri" panose="020F0502020204030204"/>
              </a:rPr>
              <a:t>Thank You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00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7849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59B6262-83E5-1D81-432A-8A27F496C88A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3853" y="1711613"/>
            <a:chExt cx="10729274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2844CA7-9B0C-AC3B-0D24-8E0D44729581}"/>
                </a:ext>
              </a:extLst>
            </p:cNvPr>
            <p:cNvSpPr txBox="1"/>
            <p:nvPr/>
          </p:nvSpPr>
          <p:spPr>
            <a:xfrm>
              <a:off x="1653933" y="1711613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First Stage: Would disease research with a higher RRB be more likely to be supported by ARRA-NIH grants?  </a:t>
              </a: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C6DF84E0-4885-0F85-9F44-BD0FE887E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13853" y="1807071"/>
              <a:ext cx="640080" cy="640080"/>
            </a:xfrm>
            <a:prstGeom prst="rect">
              <a:avLst/>
            </a:prstGeom>
          </p:spPr>
        </p:pic>
      </p:grpSp>
      <p:pic>
        <p:nvPicPr>
          <p:cNvPr id="19" name="Picture 18" descr="Table&#10;&#10;Description automatically generated">
            <a:extLst>
              <a:ext uri="{FF2B5EF4-FFF2-40B4-BE49-F238E27FC236}">
                <a16:creationId xmlns:a16="http://schemas.microsoft.com/office/drawing/2014/main" id="{0AAAC490-2BB7-E897-11DA-B68FDD230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681" y="1600200"/>
            <a:ext cx="5509420" cy="36576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B10B58-3964-AE75-7FBF-918F7773BEB2}"/>
              </a:ext>
            </a:extLst>
          </p:cNvPr>
          <p:cNvSpPr/>
          <p:nvPr/>
        </p:nvSpPr>
        <p:spPr>
          <a:xfrm>
            <a:off x="6532775" y="2809188"/>
            <a:ext cx="763571" cy="263950"/>
          </a:xfrm>
          <a:prstGeom prst="roundRect">
            <a:avLst/>
          </a:prstGeom>
          <a:solidFill>
            <a:schemeClr val="tx1">
              <a:alpha val="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44D755-4BEC-767B-1736-2FD2269AE73F}"/>
              </a:ext>
            </a:extLst>
          </p:cNvPr>
          <p:cNvSpPr/>
          <p:nvPr/>
        </p:nvSpPr>
        <p:spPr>
          <a:xfrm>
            <a:off x="7835245" y="2809188"/>
            <a:ext cx="763571" cy="263950"/>
          </a:xfrm>
          <a:prstGeom prst="roundRect">
            <a:avLst/>
          </a:prstGeom>
          <a:solidFill>
            <a:schemeClr val="tx1">
              <a:alpha val="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CEA5DDE-2FBE-207A-B381-2B513D2E4CFE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AAC490-2BB7-E897-11DA-B68FDD230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7832" y="1600200"/>
            <a:ext cx="5486400" cy="4114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A627A8F-1A12-A471-26F6-A17C5A04EDC5}"/>
              </a:ext>
            </a:extLst>
          </p:cNvPr>
          <p:cNvGrpSpPr/>
          <p:nvPr/>
        </p:nvGrpSpPr>
        <p:grpSpPr>
          <a:xfrm>
            <a:off x="5560966" y="1961536"/>
            <a:ext cx="2686638" cy="1395167"/>
            <a:chOff x="5533534" y="2941163"/>
            <a:chExt cx="2686638" cy="13951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22492BB-9F29-AFE0-C2A1-E51A00147DED}"/>
                </a:ext>
              </a:extLst>
            </p:cNvPr>
            <p:cNvSpPr txBox="1"/>
            <p:nvPr/>
          </p:nvSpPr>
          <p:spPr>
            <a:xfrm>
              <a:off x="5769203" y="2941163"/>
              <a:ext cx="24509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 substantial jump 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619441-DA6A-CEC7-4493-18AE67BC3B8A}"/>
                </a:ext>
              </a:extLst>
            </p:cNvPr>
            <p:cNvCxnSpPr/>
            <p:nvPr/>
          </p:nvCxnSpPr>
          <p:spPr>
            <a:xfrm flipH="1">
              <a:off x="5533534" y="3429000"/>
              <a:ext cx="562466" cy="90733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813F3E-C9CF-C074-C681-C39CE3A59ACF}"/>
              </a:ext>
            </a:extLst>
          </p:cNvPr>
          <p:cNvGrpSpPr/>
          <p:nvPr/>
        </p:nvGrpSpPr>
        <p:grpSpPr>
          <a:xfrm>
            <a:off x="6049198" y="3948465"/>
            <a:ext cx="3591613" cy="864603"/>
            <a:chOff x="6021766" y="4928092"/>
            <a:chExt cx="3591613" cy="864603"/>
          </a:xfrm>
        </p:grpSpPr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A84009E4-4A94-F62E-B693-72F49542CABE}"/>
                </a:ext>
              </a:extLst>
            </p:cNvPr>
            <p:cNvSpPr/>
            <p:nvPr/>
          </p:nvSpPr>
          <p:spPr>
            <a:xfrm rot="16200000">
              <a:off x="6920537" y="4177790"/>
              <a:ext cx="464493" cy="1965097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DED19EA-F4C6-3FED-CA2D-4ADB24AB6F11}"/>
                </a:ext>
              </a:extLst>
            </p:cNvPr>
            <p:cNvSpPr txBox="1"/>
            <p:nvPr/>
          </p:nvSpPr>
          <p:spPr>
            <a:xfrm>
              <a:off x="6021766" y="5392585"/>
              <a:ext cx="35916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Policy effect quickly diminished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4689B1-8F37-A8F1-BABE-14EF7B2F2597}"/>
              </a:ext>
            </a:extLst>
          </p:cNvPr>
          <p:cNvGrpSpPr/>
          <p:nvPr/>
        </p:nvGrpSpPr>
        <p:grpSpPr>
          <a:xfrm>
            <a:off x="457200" y="457200"/>
            <a:ext cx="10729274" cy="830997"/>
            <a:chOff x="1016524" y="1565309"/>
            <a:chExt cx="10729274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43CC59-6199-4619-8481-3945B8DF3F96}"/>
                </a:ext>
              </a:extLst>
            </p:cNvPr>
            <p:cNvSpPr txBox="1"/>
            <p:nvPr/>
          </p:nvSpPr>
          <p:spPr>
            <a:xfrm>
              <a:off x="1656604" y="1565309"/>
              <a:ext cx="100891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First Stage: Would disease research with a higher RRB be more likely to be supported by ARRA-NIH grants?  </a:t>
              </a:r>
            </a:p>
          </p:txBody>
        </p:sp>
        <p:pic>
          <p:nvPicPr>
            <p:cNvPr id="23" name="Graphic 22" descr="Good Idea with solid fill">
              <a:extLst>
                <a:ext uri="{FF2B5EF4-FFF2-40B4-BE49-F238E27FC236}">
                  <a16:creationId xmlns:a16="http://schemas.microsoft.com/office/drawing/2014/main" id="{F29B9DCA-9612-58B4-9993-C78C31B2B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16524" y="1649028"/>
              <a:ext cx="640080" cy="640080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6ED13FF-781B-9D7C-C944-C32B504CEF54}"/>
              </a:ext>
            </a:extLst>
          </p:cNvPr>
          <p:cNvSpPr txBox="1"/>
          <p:nvPr/>
        </p:nvSpPr>
        <p:spPr>
          <a:xfrm>
            <a:off x="4930219" y="1234911"/>
            <a:ext cx="2516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Event Study Estimates</a:t>
            </a:r>
          </a:p>
        </p:txBody>
      </p:sp>
    </p:spTree>
    <p:extLst>
      <p:ext uri="{BB962C8B-B14F-4D97-AF65-F5344CB8AC3E}">
        <p14:creationId xmlns:p14="http://schemas.microsoft.com/office/powerpoint/2010/main" val="22925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5118</TotalTime>
  <Words>1090</Words>
  <Application>Microsoft Macintosh PowerPoint</Application>
  <PresentationFormat>Widescreen</PresentationFormat>
  <Paragraphs>254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proxima-nova</vt:lpstr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Talk at Drexel University</dc:title>
  <dc:creator>Wei Fu</dc:creator>
  <cp:lastModifiedBy>Fu, Wei</cp:lastModifiedBy>
  <cp:revision>347</cp:revision>
  <dcterms:created xsi:type="dcterms:W3CDTF">2022-05-15T04:13:45Z</dcterms:created>
  <dcterms:modified xsi:type="dcterms:W3CDTF">2022-09-20T19:43:50Z</dcterms:modified>
</cp:coreProperties>
</file>